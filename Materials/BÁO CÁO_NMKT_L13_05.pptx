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8288000" cy="10287000"/>
  <p:notesSz cx="6858000" cy="9144000"/>
  <p:embeddedFontLst>
    <p:embeddedFont>
      <p:font typeface="Be Vietnam" panose="020B0604020202020204" charset="0"/>
      <p:regular r:id="rId23"/>
    </p:embeddedFont>
    <p:embeddedFont>
      <p:font typeface="Be Vietnam Italics" panose="020B0604020202020204" charset="0"/>
      <p:regular r:id="rId24"/>
    </p:embeddedFont>
    <p:embeddedFont>
      <p:font typeface="Be Vietnam Ultra-Bold" panose="020B0604020202020204" charset="0"/>
      <p:regular r:id="rId25"/>
    </p:embeddedFont>
    <p:embeddedFont>
      <p:font typeface="Be Vietnam Ultra-Bold Italics" panose="020B0604020202020204" charset="0"/>
      <p:regular r:id="rId26"/>
    </p:embeddedFont>
    <p:embeddedFont>
      <p:font typeface="Dancing Script Bold" panose="020B0604020202020204" charset="0"/>
      <p:regular r:id="rId27"/>
    </p:embeddedFont>
    <p:embeddedFont>
      <p:font typeface="K2D" panose="020B0604020202020204" charset="-34"/>
      <p:regular r:id="rId28"/>
    </p:embeddedFont>
    <p:embeddedFont>
      <p:font typeface="K2D Bold" panose="020B0604020202020204" charset="-34"/>
      <p:regular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5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sv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sv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627763" y="0"/>
            <a:ext cx="8660237" cy="10315495"/>
          </a:xfrm>
          <a:custGeom>
            <a:avLst/>
            <a:gdLst/>
            <a:ahLst/>
            <a:cxnLst/>
            <a:rect l="l" t="t" r="r" b="b"/>
            <a:pathLst>
              <a:path w="8660237" h="10315495">
                <a:moveTo>
                  <a:pt x="0" y="0"/>
                </a:moveTo>
                <a:lnTo>
                  <a:pt x="8660237" y="0"/>
                </a:lnTo>
                <a:lnTo>
                  <a:pt x="8660237" y="10315495"/>
                </a:lnTo>
                <a:lnTo>
                  <a:pt x="0" y="1031549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2615" t="-42525" r="-47052" b="-2085"/>
            </a:stretch>
          </a:blipFill>
        </p:spPr>
        <p:txBody>
          <a:bodyPr/>
          <a:lstStyle/>
          <a:p>
            <a:endParaRPr lang="en-001"/>
          </a:p>
        </p:txBody>
      </p:sp>
      <p:sp>
        <p:nvSpPr>
          <p:cNvPr id="3" name="TextBox 3"/>
          <p:cNvSpPr txBox="1"/>
          <p:nvPr/>
        </p:nvSpPr>
        <p:spPr>
          <a:xfrm>
            <a:off x="1153572" y="1181100"/>
            <a:ext cx="7371208" cy="258762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999"/>
              </a:lnSpc>
            </a:pPr>
            <a:r>
              <a:rPr lang="en-US" sz="9999" b="1" spc="-599" dirty="0">
                <a:solidFill>
                  <a:srgbClr val="331B0D"/>
                </a:solidFill>
                <a:latin typeface="K2D Bold"/>
                <a:ea typeface="K2D Bold"/>
                <a:cs typeface="K2D Bold"/>
                <a:sym typeface="K2D Bold"/>
              </a:rPr>
              <a:t>Báo </a:t>
            </a:r>
            <a:r>
              <a:rPr lang="en-US" sz="9999" b="1" spc="-599" dirty="0" err="1">
                <a:solidFill>
                  <a:srgbClr val="331B0D"/>
                </a:solidFill>
                <a:latin typeface="K2D Bold"/>
                <a:ea typeface="K2D Bold"/>
                <a:cs typeface="K2D Bold"/>
                <a:sym typeface="K2D Bold"/>
              </a:rPr>
              <a:t>cáo</a:t>
            </a:r>
            <a:r>
              <a:rPr lang="en-US" sz="9999" b="1" spc="-599" dirty="0">
                <a:solidFill>
                  <a:srgbClr val="331B0D"/>
                </a:solidFill>
                <a:latin typeface="K2D Bold"/>
                <a:ea typeface="K2D Bold"/>
                <a:cs typeface="K2D Bold"/>
                <a:sym typeface="K2D Bold"/>
              </a:rPr>
              <a:t> </a:t>
            </a:r>
            <a:r>
              <a:rPr lang="en-US" sz="9999" b="1" spc="-599" dirty="0" err="1">
                <a:solidFill>
                  <a:srgbClr val="331B0D"/>
                </a:solidFill>
                <a:latin typeface="K2D Bold"/>
                <a:ea typeface="K2D Bold"/>
                <a:cs typeface="K2D Bold"/>
                <a:sym typeface="K2D Bold"/>
              </a:rPr>
              <a:t>đề</a:t>
            </a:r>
            <a:r>
              <a:rPr lang="en-US" sz="9999" b="1" spc="-599" dirty="0">
                <a:solidFill>
                  <a:srgbClr val="331B0D"/>
                </a:solidFill>
                <a:latin typeface="K2D Bold"/>
                <a:ea typeface="K2D Bold"/>
                <a:cs typeface="K2D Bold"/>
                <a:sym typeface="K2D Bold"/>
              </a:rPr>
              <a:t> </a:t>
            </a:r>
            <a:r>
              <a:rPr lang="en-US" sz="9999" b="1" spc="-599" dirty="0" err="1">
                <a:solidFill>
                  <a:srgbClr val="331B0D"/>
                </a:solidFill>
                <a:latin typeface="K2D Bold"/>
                <a:ea typeface="K2D Bold"/>
                <a:cs typeface="K2D Bold"/>
                <a:sym typeface="K2D Bold"/>
              </a:rPr>
              <a:t>tài</a:t>
            </a:r>
            <a:endParaRPr lang="en-US" sz="9999" b="1" spc="-599" dirty="0">
              <a:solidFill>
                <a:srgbClr val="331B0D"/>
              </a:solidFill>
              <a:latin typeface="K2D Bold"/>
              <a:ea typeface="K2D Bold"/>
              <a:cs typeface="K2D Bold"/>
              <a:sym typeface="K2D Bold"/>
            </a:endParaRPr>
          </a:p>
          <a:p>
            <a:pPr algn="ctr">
              <a:lnSpc>
                <a:spcPts val="9999"/>
              </a:lnSpc>
            </a:pPr>
            <a:r>
              <a:rPr lang="en-US" sz="9999" b="1" spc="-599" dirty="0">
                <a:solidFill>
                  <a:srgbClr val="331B0D"/>
                </a:solidFill>
                <a:latin typeface="K2D Bold"/>
                <a:ea typeface="K2D Bold"/>
                <a:cs typeface="K2D Bold"/>
                <a:sym typeface="K2D Bold"/>
              </a:rPr>
              <a:t>“LED Cube”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467326" y="6338561"/>
            <a:ext cx="6743700" cy="549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75"/>
              </a:lnSpc>
            </a:pPr>
            <a:r>
              <a:rPr lang="en-US" sz="3500" b="1" spc="350">
                <a:solidFill>
                  <a:srgbClr val="8C7753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NMvKT - Nhóm 5 - Lớp L13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467326" y="7181849"/>
            <a:ext cx="4109387" cy="20764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Nguyễn Phước Khang  </a:t>
            </a:r>
          </a:p>
          <a:p>
            <a:pPr algn="l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Nguyễn Phúc Khang</a:t>
            </a:r>
          </a:p>
          <a:p>
            <a:pPr algn="l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Nguyễn Lưu Gia Huy</a:t>
            </a:r>
          </a:p>
          <a:p>
            <a:pPr algn="l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Nguyễn Nhất Huy               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66800" y="9809813"/>
            <a:ext cx="2055316" cy="264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39"/>
              </a:lnSpc>
              <a:spcBef>
                <a:spcPct val="0"/>
              </a:spcBef>
            </a:pPr>
            <a:r>
              <a:rPr lang="en-US" sz="1599" spc="159">
                <a:solidFill>
                  <a:srgbClr val="000000">
                    <a:alpha val="49804"/>
                  </a:srgbClr>
                </a:solidFill>
                <a:latin typeface="Be Vietnam"/>
                <a:ea typeface="Be Vietnam"/>
                <a:cs typeface="Be Vietnam"/>
                <a:sym typeface="Be Vietnam"/>
              </a:rPr>
              <a:t>LED CUBE NHÓM 5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654522" y="7181849"/>
            <a:ext cx="1556504" cy="20764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2510673</a:t>
            </a:r>
          </a:p>
          <a:p>
            <a:pPr algn="l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2510672</a:t>
            </a:r>
          </a:p>
          <a:p>
            <a:pPr algn="l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2510649</a:t>
            </a:r>
          </a:p>
          <a:p>
            <a:pPr algn="l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2510650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65546" y="3666697"/>
            <a:ext cx="17237559" cy="3499072"/>
            <a:chOff x="0" y="0"/>
            <a:chExt cx="22983411" cy="466542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486248" cy="4665429"/>
            </a:xfrm>
            <a:custGeom>
              <a:avLst/>
              <a:gdLst/>
              <a:ahLst/>
              <a:cxnLst/>
              <a:rect l="l" t="t" r="r" b="b"/>
              <a:pathLst>
                <a:path w="22486248" h="4665429">
                  <a:moveTo>
                    <a:pt x="0" y="0"/>
                  </a:moveTo>
                  <a:lnTo>
                    <a:pt x="22486248" y="0"/>
                  </a:lnTo>
                  <a:lnTo>
                    <a:pt x="22486248" y="4665429"/>
                  </a:lnTo>
                  <a:lnTo>
                    <a:pt x="0" y="46654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0541" t="-139545" r="-6099" b="-135241"/>
              </a:stretch>
            </a:blipFill>
          </p:spPr>
          <p:txBody>
            <a:bodyPr/>
            <a:lstStyle/>
            <a:p>
              <a:endParaRPr lang="en-001"/>
            </a:p>
          </p:txBody>
        </p:sp>
        <p:sp>
          <p:nvSpPr>
            <p:cNvPr id="4" name="Freeform 4"/>
            <p:cNvSpPr/>
            <p:nvPr/>
          </p:nvSpPr>
          <p:spPr>
            <a:xfrm rot="-3817914">
              <a:off x="22290294" y="822206"/>
              <a:ext cx="573694" cy="622508"/>
            </a:xfrm>
            <a:custGeom>
              <a:avLst/>
              <a:gdLst/>
              <a:ahLst/>
              <a:cxnLst/>
              <a:rect l="l" t="t" r="r" b="b"/>
              <a:pathLst>
                <a:path w="573694" h="622508">
                  <a:moveTo>
                    <a:pt x="0" y="0"/>
                  </a:moveTo>
                  <a:lnTo>
                    <a:pt x="573695" y="0"/>
                  </a:lnTo>
                  <a:lnTo>
                    <a:pt x="573695" y="622508"/>
                  </a:lnTo>
                  <a:lnTo>
                    <a:pt x="0" y="6225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41847" t="-29706"/>
              </a:stretch>
            </a:blipFill>
          </p:spPr>
          <p:txBody>
            <a:bodyPr/>
            <a:lstStyle/>
            <a:p>
              <a:endParaRPr lang="en-001"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066800" y="1152525"/>
            <a:ext cx="8115300" cy="7810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99"/>
              </a:lnSpc>
            </a:pPr>
            <a:r>
              <a:rPr lang="en-US" sz="5999" b="1" spc="-359">
                <a:solidFill>
                  <a:srgbClr val="331B0D"/>
                </a:solidFill>
                <a:latin typeface="K2D Bold"/>
                <a:ea typeface="K2D Bold"/>
                <a:cs typeface="K2D Bold"/>
                <a:sym typeface="K2D Bold"/>
              </a:rPr>
              <a:t>Nội dung trình bày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145966" y="2139520"/>
            <a:ext cx="3194579" cy="13843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Mục tiêu thiết kế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66800" y="9809813"/>
            <a:ext cx="2055316" cy="264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39"/>
              </a:lnSpc>
              <a:spcBef>
                <a:spcPct val="0"/>
              </a:spcBef>
            </a:pPr>
            <a:r>
              <a:rPr lang="en-US" sz="1599" spc="159">
                <a:solidFill>
                  <a:srgbClr val="000000">
                    <a:alpha val="49804"/>
                  </a:srgbClr>
                </a:solidFill>
                <a:latin typeface="Be Vietnam"/>
                <a:ea typeface="Be Vietnam"/>
                <a:cs typeface="Be Vietnam"/>
                <a:sym typeface="Be Vietnam"/>
              </a:rPr>
              <a:t>LED CUBE NHÓM 5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714451" y="7283243"/>
            <a:ext cx="3194579" cy="6794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Giới thiệu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484854" y="7232443"/>
            <a:ext cx="3744113" cy="13843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Phương pháp thực hiện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667088" y="2139520"/>
            <a:ext cx="2603599" cy="13843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Nguyên lý hoạt động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270687" y="7232443"/>
            <a:ext cx="2652514" cy="13843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Cấu tạo LED Cube</a:t>
            </a:r>
          </a:p>
        </p:txBody>
      </p:sp>
    </p:spTree>
  </p:cSld>
  <p:clrMapOvr>
    <a:masterClrMapping/>
  </p:clrMapOvr>
  <p:transition spd="slow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108867" y="-7063"/>
            <a:ext cx="6381723" cy="10294063"/>
          </a:xfrm>
          <a:custGeom>
            <a:avLst/>
            <a:gdLst/>
            <a:ahLst/>
            <a:cxnLst/>
            <a:rect l="l" t="t" r="r" b="b"/>
            <a:pathLst>
              <a:path w="6381723" h="10294063">
                <a:moveTo>
                  <a:pt x="0" y="0"/>
                </a:moveTo>
                <a:lnTo>
                  <a:pt x="6381723" y="0"/>
                </a:lnTo>
                <a:lnTo>
                  <a:pt x="6381723" y="10294063"/>
                </a:lnTo>
                <a:lnTo>
                  <a:pt x="0" y="1029406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0762" r="-22794" b="-3283"/>
            </a:stretch>
          </a:blipFill>
        </p:spPr>
        <p:txBody>
          <a:bodyPr/>
          <a:lstStyle/>
          <a:p>
            <a:endParaRPr lang="en-001"/>
          </a:p>
        </p:txBody>
      </p:sp>
      <p:sp>
        <p:nvSpPr>
          <p:cNvPr id="3" name="TextBox 3"/>
          <p:cNvSpPr txBox="1"/>
          <p:nvPr/>
        </p:nvSpPr>
        <p:spPr>
          <a:xfrm>
            <a:off x="1028700" y="1152525"/>
            <a:ext cx="8115300" cy="7810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99"/>
              </a:lnSpc>
            </a:pPr>
            <a:r>
              <a:rPr lang="en-US" sz="5999" b="1" spc="-359">
                <a:solidFill>
                  <a:srgbClr val="331B0D"/>
                </a:solidFill>
                <a:latin typeface="K2D Bold"/>
                <a:ea typeface="K2D Bold"/>
                <a:cs typeface="K2D Bold"/>
                <a:sym typeface="K2D Bold"/>
              </a:rPr>
              <a:t>Giới thiệu đề tài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715211" y="2688756"/>
            <a:ext cx="9756562" cy="63182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331B0D"/>
                </a:solidFill>
                <a:latin typeface="Be Vietnam"/>
                <a:ea typeface="Be Vietnam"/>
                <a:cs typeface="Be Vietnam"/>
                <a:sym typeface="Be Vietnam"/>
              </a:rPr>
              <a:t>✅ Một khối LED 6x6x6 (ﾉ◕ヮ◕)ﾉ*:･ﾟ✧</a:t>
            </a:r>
          </a:p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331B0D"/>
                </a:solidFill>
                <a:latin typeface="Be Vietnam"/>
                <a:ea typeface="Be Vietnam"/>
                <a:cs typeface="Be Vietnam"/>
                <a:sym typeface="Be Vietnam"/>
              </a:rPr>
              <a:t>✅ Hiện được chữ</a:t>
            </a:r>
          </a:p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331B0D"/>
                </a:solidFill>
                <a:latin typeface="Be Vietnam"/>
                <a:ea typeface="Be Vietnam"/>
                <a:cs typeface="Be Vietnam"/>
                <a:sym typeface="Be Vietnam"/>
              </a:rPr>
              <a:t>✅ Hiện được hiệu ứng</a:t>
            </a:r>
          </a:p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331B0D"/>
                </a:solidFill>
                <a:latin typeface="Be Vietnam"/>
                <a:ea typeface="Be Vietnam"/>
                <a:cs typeface="Be Vietnam"/>
                <a:sym typeface="Be Vietnam"/>
              </a:rPr>
              <a:t>✅ Chơi game con rắn </a:t>
            </a:r>
            <a:r>
              <a:rPr lang="en-US" sz="3999" b="1" i="1">
                <a:solidFill>
                  <a:srgbClr val="331B0D"/>
                </a:solidFill>
                <a:latin typeface="Be Vietnam Ultra-Bold Italics"/>
                <a:ea typeface="Be Vietnam Ultra-Bold Italics"/>
                <a:cs typeface="Be Vietnam Ultra-Bold Italics"/>
                <a:sym typeface="Be Vietnam Ultra-Bold Italics"/>
              </a:rPr>
              <a:t>3D</a:t>
            </a:r>
          </a:p>
          <a:p>
            <a:pPr algn="l">
              <a:lnSpc>
                <a:spcPts val="5599"/>
              </a:lnSpc>
            </a:pPr>
            <a:endParaRPr lang="en-US" sz="3999" b="1" i="1">
              <a:solidFill>
                <a:srgbClr val="331B0D"/>
              </a:solidFill>
              <a:latin typeface="Be Vietnam Ultra-Bold Italics"/>
              <a:ea typeface="Be Vietnam Ultra-Bold Italics"/>
              <a:cs typeface="Be Vietnam Ultra-Bold Italics"/>
              <a:sym typeface="Be Vietnam Ultra-Bold Italics"/>
            </a:endParaRPr>
          </a:p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331B0D"/>
                </a:solidFill>
                <a:latin typeface="Be Vietnam"/>
                <a:ea typeface="Be Vietnam"/>
                <a:cs typeface="Be Vietnam"/>
                <a:sym typeface="Be Vietnam"/>
              </a:rPr>
              <a:t>❌ Chạy được Bad Apple</a:t>
            </a:r>
          </a:p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331B0D"/>
                </a:solidFill>
                <a:latin typeface="Be Vietnam"/>
                <a:ea typeface="Be Vietnam"/>
                <a:cs typeface="Be Vietnam"/>
                <a:sym typeface="Be Vietnam"/>
              </a:rPr>
              <a:t>❌ Chạy được Minecraft</a:t>
            </a:r>
          </a:p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331B0D"/>
                </a:solidFill>
                <a:latin typeface="Be Vietnam"/>
                <a:ea typeface="Be Vietnam"/>
                <a:cs typeface="Be Vietnam"/>
                <a:sym typeface="Be Vietnam"/>
              </a:rPr>
              <a:t>❌ Chạy được Genshin Impact</a:t>
            </a:r>
          </a:p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331B0D"/>
                </a:solidFill>
                <a:latin typeface="Be Vietnam"/>
                <a:ea typeface="Be Vietnam"/>
                <a:cs typeface="Be Vietnam"/>
                <a:sym typeface="Be Vietnam"/>
              </a:rPr>
              <a:t>❌ Nấu cho bạn một bữa ăn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66800" y="9809813"/>
            <a:ext cx="2055316" cy="264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39"/>
              </a:lnSpc>
              <a:spcBef>
                <a:spcPct val="0"/>
              </a:spcBef>
            </a:pPr>
            <a:r>
              <a:rPr lang="en-US" sz="1599" spc="159">
                <a:solidFill>
                  <a:srgbClr val="000000">
                    <a:alpha val="49804"/>
                  </a:srgbClr>
                </a:solidFill>
                <a:latin typeface="Be Vietnam"/>
                <a:ea typeface="Be Vietnam"/>
                <a:cs typeface="Be Vietnam"/>
                <a:sym typeface="Be Vietnam"/>
              </a:rPr>
              <a:t>LED CUBE NHÓM 5</a:t>
            </a:r>
          </a:p>
        </p:txBody>
      </p:sp>
    </p:spTree>
  </p:cSld>
  <p:clrMapOvr>
    <a:masterClrMapping/>
  </p:clrMapOvr>
  <p:transition spd="slow">
    <p:push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745730"/>
            <a:ext cx="18288000" cy="3911407"/>
          </a:xfrm>
          <a:custGeom>
            <a:avLst/>
            <a:gdLst/>
            <a:ahLst/>
            <a:cxnLst/>
            <a:rect l="l" t="t" r="r" b="b"/>
            <a:pathLst>
              <a:path w="18288000" h="3911407">
                <a:moveTo>
                  <a:pt x="0" y="0"/>
                </a:moveTo>
                <a:lnTo>
                  <a:pt x="18288000" y="0"/>
                </a:lnTo>
                <a:lnTo>
                  <a:pt x="18288000" y="3911407"/>
                </a:lnTo>
                <a:lnTo>
                  <a:pt x="0" y="391140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75262" b="-136010"/>
            </a:stretch>
          </a:blipFill>
        </p:spPr>
        <p:txBody>
          <a:bodyPr/>
          <a:lstStyle/>
          <a:p>
            <a:endParaRPr lang="en-001"/>
          </a:p>
        </p:txBody>
      </p:sp>
      <p:sp>
        <p:nvSpPr>
          <p:cNvPr id="3" name="Freeform 3"/>
          <p:cNvSpPr/>
          <p:nvPr/>
        </p:nvSpPr>
        <p:spPr>
          <a:xfrm>
            <a:off x="2566837" y="4859096"/>
            <a:ext cx="1392448" cy="1638175"/>
          </a:xfrm>
          <a:custGeom>
            <a:avLst/>
            <a:gdLst/>
            <a:ahLst/>
            <a:cxnLst/>
            <a:rect l="l" t="t" r="r" b="b"/>
            <a:pathLst>
              <a:path w="1392448" h="1638175">
                <a:moveTo>
                  <a:pt x="0" y="0"/>
                </a:moveTo>
                <a:lnTo>
                  <a:pt x="1392449" y="0"/>
                </a:lnTo>
                <a:lnTo>
                  <a:pt x="1392449" y="1638174"/>
                </a:lnTo>
                <a:lnTo>
                  <a:pt x="0" y="163817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001"/>
          </a:p>
        </p:txBody>
      </p:sp>
      <p:sp>
        <p:nvSpPr>
          <p:cNvPr id="4" name="Freeform 4"/>
          <p:cNvSpPr/>
          <p:nvPr/>
        </p:nvSpPr>
        <p:spPr>
          <a:xfrm>
            <a:off x="8470079" y="4859096"/>
            <a:ext cx="1347842" cy="1638175"/>
          </a:xfrm>
          <a:custGeom>
            <a:avLst/>
            <a:gdLst/>
            <a:ahLst/>
            <a:cxnLst/>
            <a:rect l="l" t="t" r="r" b="b"/>
            <a:pathLst>
              <a:path w="1347842" h="1638175">
                <a:moveTo>
                  <a:pt x="0" y="0"/>
                </a:moveTo>
                <a:lnTo>
                  <a:pt x="1347842" y="0"/>
                </a:lnTo>
                <a:lnTo>
                  <a:pt x="1347842" y="1638174"/>
                </a:lnTo>
                <a:lnTo>
                  <a:pt x="0" y="163817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10002" b="-12798"/>
            </a:stretch>
          </a:blipFill>
        </p:spPr>
        <p:txBody>
          <a:bodyPr/>
          <a:lstStyle/>
          <a:p>
            <a:endParaRPr lang="en-001"/>
          </a:p>
        </p:txBody>
      </p:sp>
      <p:sp>
        <p:nvSpPr>
          <p:cNvPr id="5" name="Freeform 5"/>
          <p:cNvSpPr/>
          <p:nvPr/>
        </p:nvSpPr>
        <p:spPr>
          <a:xfrm>
            <a:off x="2487937" y="8110171"/>
            <a:ext cx="1550249" cy="1550249"/>
          </a:xfrm>
          <a:custGeom>
            <a:avLst/>
            <a:gdLst/>
            <a:ahLst/>
            <a:cxnLst/>
            <a:rect l="l" t="t" r="r" b="b"/>
            <a:pathLst>
              <a:path w="1550249" h="1550249">
                <a:moveTo>
                  <a:pt x="0" y="0"/>
                </a:moveTo>
                <a:lnTo>
                  <a:pt x="1550249" y="0"/>
                </a:lnTo>
                <a:lnTo>
                  <a:pt x="1550249" y="1550249"/>
                </a:lnTo>
                <a:lnTo>
                  <a:pt x="0" y="155024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001"/>
          </a:p>
        </p:txBody>
      </p:sp>
      <p:sp>
        <p:nvSpPr>
          <p:cNvPr id="6" name="Freeform 6"/>
          <p:cNvSpPr/>
          <p:nvPr/>
        </p:nvSpPr>
        <p:spPr>
          <a:xfrm>
            <a:off x="14902974" y="4859096"/>
            <a:ext cx="1614605" cy="1638175"/>
          </a:xfrm>
          <a:custGeom>
            <a:avLst/>
            <a:gdLst/>
            <a:ahLst/>
            <a:cxnLst/>
            <a:rect l="l" t="t" r="r" b="b"/>
            <a:pathLst>
              <a:path w="1614605" h="1638175">
                <a:moveTo>
                  <a:pt x="0" y="0"/>
                </a:moveTo>
                <a:lnTo>
                  <a:pt x="1614605" y="0"/>
                </a:lnTo>
                <a:lnTo>
                  <a:pt x="1614605" y="1638174"/>
                </a:lnTo>
                <a:lnTo>
                  <a:pt x="0" y="163817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17739" b="-13675"/>
            </a:stretch>
          </a:blipFill>
        </p:spPr>
        <p:txBody>
          <a:bodyPr/>
          <a:lstStyle/>
          <a:p>
            <a:endParaRPr lang="en-001"/>
          </a:p>
        </p:txBody>
      </p:sp>
      <p:sp>
        <p:nvSpPr>
          <p:cNvPr id="7" name="Freeform 7"/>
          <p:cNvSpPr/>
          <p:nvPr/>
        </p:nvSpPr>
        <p:spPr>
          <a:xfrm>
            <a:off x="8376771" y="8110171"/>
            <a:ext cx="1534459" cy="1534459"/>
          </a:xfrm>
          <a:custGeom>
            <a:avLst/>
            <a:gdLst/>
            <a:ahLst/>
            <a:cxnLst/>
            <a:rect l="l" t="t" r="r" b="b"/>
            <a:pathLst>
              <a:path w="1534459" h="1534459">
                <a:moveTo>
                  <a:pt x="0" y="0"/>
                </a:moveTo>
                <a:lnTo>
                  <a:pt x="1534458" y="0"/>
                </a:lnTo>
                <a:lnTo>
                  <a:pt x="1534458" y="1534458"/>
                </a:lnTo>
                <a:lnTo>
                  <a:pt x="0" y="153445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1559" t="-14449" r="-14449" b="-11559"/>
            </a:stretch>
          </a:blipFill>
        </p:spPr>
        <p:txBody>
          <a:bodyPr/>
          <a:lstStyle/>
          <a:p>
            <a:endParaRPr lang="en-001"/>
          </a:p>
        </p:txBody>
      </p:sp>
      <p:sp>
        <p:nvSpPr>
          <p:cNvPr id="8" name="Freeform 8"/>
          <p:cNvSpPr/>
          <p:nvPr/>
        </p:nvSpPr>
        <p:spPr>
          <a:xfrm>
            <a:off x="14902974" y="8110171"/>
            <a:ext cx="1794750" cy="1550249"/>
          </a:xfrm>
          <a:custGeom>
            <a:avLst/>
            <a:gdLst/>
            <a:ahLst/>
            <a:cxnLst/>
            <a:rect l="l" t="t" r="r" b="b"/>
            <a:pathLst>
              <a:path w="1794750" h="1550249">
                <a:moveTo>
                  <a:pt x="0" y="0"/>
                </a:moveTo>
                <a:lnTo>
                  <a:pt x="1794750" y="0"/>
                </a:lnTo>
                <a:lnTo>
                  <a:pt x="1794750" y="1550249"/>
                </a:lnTo>
                <a:lnTo>
                  <a:pt x="0" y="155024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5593" t="-23358"/>
            </a:stretch>
          </a:blipFill>
        </p:spPr>
        <p:txBody>
          <a:bodyPr/>
          <a:lstStyle/>
          <a:p>
            <a:endParaRPr lang="en-001"/>
          </a:p>
        </p:txBody>
      </p:sp>
      <p:sp>
        <p:nvSpPr>
          <p:cNvPr id="9" name="TextBox 9"/>
          <p:cNvSpPr txBox="1"/>
          <p:nvPr/>
        </p:nvSpPr>
        <p:spPr>
          <a:xfrm>
            <a:off x="539941" y="3270452"/>
            <a:ext cx="5446241" cy="13843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331B0D"/>
                </a:solidFill>
                <a:latin typeface="Be Vietnam"/>
                <a:ea typeface="Be Vietnam"/>
                <a:cs typeface="Be Vietnam"/>
                <a:sym typeface="Be Vietnam"/>
              </a:rPr>
              <a:t>Cấu trúc chắc chắn, độ ổn định cao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40275" y="923925"/>
            <a:ext cx="5995823" cy="10096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399"/>
              </a:lnSpc>
              <a:spcBef>
                <a:spcPct val="0"/>
              </a:spcBef>
            </a:pPr>
            <a:r>
              <a:rPr lang="en-US" sz="5999" b="1">
                <a:solidFill>
                  <a:srgbClr val="000000"/>
                </a:solidFill>
                <a:latin typeface="K2D Bold"/>
                <a:ea typeface="K2D Bold"/>
                <a:cs typeface="K2D Bold"/>
                <a:sym typeface="K2D Bold"/>
              </a:rPr>
              <a:t>Mục tiêu thiết kế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73257" y="6519579"/>
            <a:ext cx="4379608" cy="13843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331B0D"/>
                </a:solidFill>
                <a:latin typeface="Be Vietnam"/>
                <a:ea typeface="Be Vietnam"/>
                <a:cs typeface="Be Vietnam"/>
                <a:sym typeface="Be Vietnam"/>
              </a:rPr>
              <a:t>Chạy được game con rắn </a:t>
            </a:r>
            <a:r>
              <a:rPr lang="en-US" sz="3999" b="1" i="1">
                <a:solidFill>
                  <a:srgbClr val="331B0D"/>
                </a:solidFill>
                <a:latin typeface="Be Vietnam Ultra-Bold Italics"/>
                <a:ea typeface="Be Vietnam Ultra-Bold Italics"/>
                <a:cs typeface="Be Vietnam Ultra-Bold Italics"/>
                <a:sym typeface="Be Vietnam Ultra-Bold Italics"/>
              </a:rPr>
              <a:t>3D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657909" y="3321252"/>
            <a:ext cx="4972182" cy="13843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331B0D"/>
                </a:solidFill>
                <a:latin typeface="Be Vietnam"/>
                <a:ea typeface="Be Vietnam"/>
                <a:cs typeface="Be Vietnam"/>
                <a:sym typeface="Be Vietnam"/>
              </a:rPr>
              <a:t>Tần số quét LED nhanh (&gt;= 30 fps)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899415" y="6573470"/>
            <a:ext cx="6489170" cy="13843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331B0D"/>
                </a:solidFill>
                <a:latin typeface="Be Vietnam"/>
                <a:ea typeface="Be Vietnam"/>
                <a:cs typeface="Be Vietnam"/>
                <a:sym typeface="Be Vietnam"/>
              </a:rPr>
              <a:t>Độ phân giải “tạm” ổn (6x6x6 hoặc 7x7x7)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66800" y="9809813"/>
            <a:ext cx="2055316" cy="264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39"/>
              </a:lnSpc>
              <a:spcBef>
                <a:spcPct val="0"/>
              </a:spcBef>
            </a:pPr>
            <a:r>
              <a:rPr lang="en-US" sz="1599" spc="159">
                <a:solidFill>
                  <a:srgbClr val="000000">
                    <a:alpha val="49804"/>
                  </a:srgbClr>
                </a:solidFill>
                <a:latin typeface="Be Vietnam"/>
                <a:ea typeface="Be Vietnam"/>
                <a:cs typeface="Be Vietnam"/>
                <a:sym typeface="Be Vietnam"/>
              </a:rPr>
              <a:t>LED CUBE NHÓM 5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4847313" y="3622877"/>
            <a:ext cx="1906072" cy="6794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331B0D"/>
                </a:solidFill>
                <a:latin typeface="Be Vietnam"/>
                <a:ea typeface="Be Vietnam"/>
                <a:cs typeface="Be Vietnam"/>
                <a:sym typeface="Be Vietnam"/>
              </a:rPr>
              <a:t> Đẹp ✨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4048767" y="6563945"/>
            <a:ext cx="3503163" cy="13843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331B0D"/>
                </a:solidFill>
                <a:latin typeface="Be Vietnam"/>
                <a:ea typeface="Be Vietnam"/>
                <a:cs typeface="Be Vietnam"/>
                <a:sym typeface="Be Vietnam"/>
              </a:rPr>
              <a:t>Đảm bảo an toàn điện</a:t>
            </a:r>
          </a:p>
        </p:txBody>
      </p:sp>
    </p:spTree>
  </p:cSld>
  <p:clrMapOvr>
    <a:masterClrMapping/>
  </p:clrMapOvr>
  <p:transition spd="slow">
    <p:push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344255" y="2193615"/>
            <a:ext cx="2967865" cy="669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8C7753"/>
                </a:solidFill>
                <a:latin typeface="K2D Bold"/>
                <a:ea typeface="K2D Bold"/>
                <a:cs typeface="K2D Bold"/>
                <a:sym typeface="K2D Bold"/>
              </a:rPr>
              <a:t>Nghiên cứu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344255" y="3513465"/>
            <a:ext cx="6180654" cy="15906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331B0D"/>
                </a:solidFill>
                <a:latin typeface="Be Vietnam"/>
                <a:ea typeface="Be Vietnam"/>
                <a:cs typeface="Be Vietnam"/>
                <a:sym typeface="Be Vietnam"/>
              </a:rPr>
              <a:t>Làm sao để dựng được LED Cube?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331B0D"/>
                </a:solidFill>
                <a:latin typeface="Be Vietnam"/>
                <a:ea typeface="Be Vietnam"/>
                <a:cs typeface="Be Vietnam"/>
                <a:sym typeface="Be Vietnam"/>
              </a:rPr>
              <a:t>Làm sao để quét LED?</a:t>
            </a:r>
          </a:p>
          <a:p>
            <a:pPr marL="0" lvl="0" indent="0"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331B0D"/>
                </a:solidFill>
                <a:latin typeface="Be Vietnam"/>
                <a:ea typeface="Be Vietnam"/>
                <a:cs typeface="Be Vietnam"/>
                <a:sym typeface="Be Vietnam"/>
              </a:rPr>
              <a:t>Làm sao để đạt được tần số cao?</a:t>
            </a:r>
          </a:p>
        </p:txBody>
      </p:sp>
      <p:sp>
        <p:nvSpPr>
          <p:cNvPr id="4" name="AutoShape 4"/>
          <p:cNvSpPr/>
          <p:nvPr/>
        </p:nvSpPr>
        <p:spPr>
          <a:xfrm>
            <a:off x="721427" y="5892176"/>
            <a:ext cx="16230600" cy="0"/>
          </a:xfrm>
          <a:prstGeom prst="line">
            <a:avLst/>
          </a:prstGeom>
          <a:ln w="142875" cap="flat">
            <a:solidFill>
              <a:srgbClr val="8C7753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001"/>
          </a:p>
        </p:txBody>
      </p:sp>
      <p:sp>
        <p:nvSpPr>
          <p:cNvPr id="5" name="AutoShape 5"/>
          <p:cNvSpPr/>
          <p:nvPr/>
        </p:nvSpPr>
        <p:spPr>
          <a:xfrm>
            <a:off x="1023853" y="2561915"/>
            <a:ext cx="0" cy="3330297"/>
          </a:xfrm>
          <a:prstGeom prst="line">
            <a:avLst/>
          </a:prstGeom>
          <a:ln w="38100" cap="rnd">
            <a:solidFill>
              <a:srgbClr val="8C7753"/>
            </a:solidFill>
            <a:prstDash val="solid"/>
            <a:headEnd type="oval" w="lg" len="lg"/>
            <a:tailEnd type="none" w="sm" len="sm"/>
          </a:ln>
        </p:spPr>
        <p:txBody>
          <a:bodyPr/>
          <a:lstStyle/>
          <a:p>
            <a:endParaRPr lang="en-001"/>
          </a:p>
        </p:txBody>
      </p:sp>
      <p:sp>
        <p:nvSpPr>
          <p:cNvPr id="6" name="TextBox 6"/>
          <p:cNvSpPr txBox="1"/>
          <p:nvPr/>
        </p:nvSpPr>
        <p:spPr>
          <a:xfrm>
            <a:off x="4434582" y="8841751"/>
            <a:ext cx="4312391" cy="669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8C7753"/>
                </a:solidFill>
                <a:latin typeface="K2D Bold"/>
                <a:ea typeface="K2D Bold"/>
                <a:cs typeface="K2D Bold"/>
                <a:sym typeface="K2D Bold"/>
              </a:rPr>
              <a:t>Bổ sung kiến thức</a:t>
            </a:r>
          </a:p>
        </p:txBody>
      </p:sp>
      <p:sp>
        <p:nvSpPr>
          <p:cNvPr id="7" name="AutoShape 7"/>
          <p:cNvSpPr/>
          <p:nvPr/>
        </p:nvSpPr>
        <p:spPr>
          <a:xfrm>
            <a:off x="7889720" y="2561915"/>
            <a:ext cx="0" cy="3330297"/>
          </a:xfrm>
          <a:prstGeom prst="line">
            <a:avLst/>
          </a:prstGeom>
          <a:ln w="38100" cap="rnd">
            <a:solidFill>
              <a:srgbClr val="8C7753"/>
            </a:solidFill>
            <a:prstDash val="solid"/>
            <a:headEnd type="oval" w="lg" len="lg"/>
            <a:tailEnd type="none" w="sm" len="sm"/>
          </a:ln>
        </p:spPr>
        <p:txBody>
          <a:bodyPr/>
          <a:lstStyle/>
          <a:p>
            <a:endParaRPr lang="en-001"/>
          </a:p>
        </p:txBody>
      </p:sp>
      <p:sp>
        <p:nvSpPr>
          <p:cNvPr id="8" name="TextBox 8"/>
          <p:cNvSpPr txBox="1"/>
          <p:nvPr/>
        </p:nvSpPr>
        <p:spPr>
          <a:xfrm>
            <a:off x="8213570" y="2198277"/>
            <a:ext cx="2967865" cy="669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8C7753"/>
                </a:solidFill>
                <a:latin typeface="K2D Bold"/>
                <a:ea typeface="K2D Bold"/>
                <a:cs typeface="K2D Bold"/>
                <a:sym typeface="K2D Bold"/>
              </a:rPr>
              <a:t>Lập bản vẽ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319864" y="8841751"/>
            <a:ext cx="6246709" cy="6699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5599"/>
              </a:lnSpc>
              <a:spcBef>
                <a:spcPct val="0"/>
              </a:spcBef>
            </a:pPr>
            <a:r>
              <a:rPr lang="en-US" sz="3999" b="1" dirty="0" err="1">
                <a:solidFill>
                  <a:srgbClr val="8C7753"/>
                </a:solidFill>
                <a:latin typeface="K2D Bold"/>
                <a:ea typeface="K2D Bold"/>
                <a:cs typeface="K2D Bold"/>
                <a:sym typeface="K2D Bold"/>
              </a:rPr>
              <a:t>Triển</a:t>
            </a:r>
            <a:r>
              <a:rPr lang="en-US" sz="3999" b="1" dirty="0">
                <a:solidFill>
                  <a:srgbClr val="8C7753"/>
                </a:solidFill>
                <a:latin typeface="K2D Bold"/>
                <a:ea typeface="K2D Bold"/>
                <a:cs typeface="K2D Bold"/>
                <a:sym typeface="K2D Bold"/>
              </a:rPr>
              <a:t> </a:t>
            </a:r>
            <a:r>
              <a:rPr lang="en-US" sz="3999" b="1" dirty="0" err="1">
                <a:solidFill>
                  <a:srgbClr val="8C7753"/>
                </a:solidFill>
                <a:latin typeface="K2D Bold"/>
                <a:ea typeface="K2D Bold"/>
                <a:cs typeface="K2D Bold"/>
                <a:sym typeface="K2D Bold"/>
              </a:rPr>
              <a:t>khai</a:t>
            </a:r>
            <a:r>
              <a:rPr lang="en-US" sz="3999" b="1" dirty="0">
                <a:solidFill>
                  <a:srgbClr val="8C7753"/>
                </a:solidFill>
                <a:latin typeface="K2D Bold"/>
                <a:ea typeface="K2D Bold"/>
                <a:cs typeface="K2D Bold"/>
                <a:sym typeface="K2D Bold"/>
              </a:rPr>
              <a:t> </a:t>
            </a:r>
            <a:r>
              <a:rPr lang="en-US" sz="3999" b="1" dirty="0" err="1">
                <a:solidFill>
                  <a:srgbClr val="8C7753"/>
                </a:solidFill>
                <a:latin typeface="K2D Bold"/>
                <a:ea typeface="K2D Bold"/>
                <a:cs typeface="K2D Bold"/>
                <a:sym typeface="K2D Bold"/>
              </a:rPr>
              <a:t>và</a:t>
            </a:r>
            <a:r>
              <a:rPr lang="en-US" sz="3999" b="1" dirty="0">
                <a:solidFill>
                  <a:srgbClr val="8C7753"/>
                </a:solidFill>
                <a:latin typeface="K2D Bold"/>
                <a:ea typeface="K2D Bold"/>
                <a:cs typeface="K2D Bold"/>
                <a:sym typeface="K2D Bold"/>
              </a:rPr>
              <a:t> </a:t>
            </a:r>
            <a:r>
              <a:rPr lang="en-US" sz="3999" b="1" dirty="0" err="1">
                <a:solidFill>
                  <a:srgbClr val="8C7753"/>
                </a:solidFill>
                <a:latin typeface="K2D Bold"/>
                <a:ea typeface="K2D Bold"/>
                <a:cs typeface="K2D Bold"/>
                <a:sym typeface="K2D Bold"/>
              </a:rPr>
              <a:t>thử</a:t>
            </a:r>
            <a:r>
              <a:rPr lang="en-US" sz="3999" b="1" dirty="0">
                <a:solidFill>
                  <a:srgbClr val="8C7753"/>
                </a:solidFill>
                <a:latin typeface="K2D Bold"/>
                <a:ea typeface="K2D Bold"/>
                <a:cs typeface="K2D Bold"/>
                <a:sym typeface="K2D Bold"/>
              </a:rPr>
              <a:t> </a:t>
            </a:r>
            <a:r>
              <a:rPr lang="en-US" sz="3999" b="1" dirty="0" err="1">
                <a:solidFill>
                  <a:srgbClr val="8C7753"/>
                </a:solidFill>
                <a:latin typeface="K2D Bold"/>
                <a:ea typeface="K2D Bold"/>
                <a:cs typeface="K2D Bold"/>
                <a:sym typeface="K2D Bold"/>
              </a:rPr>
              <a:t>nghiệm</a:t>
            </a:r>
            <a:endParaRPr lang="en-US" sz="3999" b="1" dirty="0">
              <a:solidFill>
                <a:srgbClr val="8C7753"/>
              </a:solidFill>
              <a:latin typeface="K2D Bold"/>
              <a:ea typeface="K2D Bold"/>
              <a:cs typeface="K2D Bold"/>
              <a:sym typeface="K2D 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5105735" y="2193615"/>
            <a:ext cx="2460838" cy="1374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8C7753"/>
                </a:solidFill>
                <a:latin typeface="K2D Bold"/>
                <a:ea typeface="K2D Bold"/>
                <a:cs typeface="K2D Bold"/>
                <a:sym typeface="K2D Bold"/>
              </a:rPr>
              <a:t>Sản phẩm cuối cùng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66800" y="9809813"/>
            <a:ext cx="2055316" cy="264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39"/>
              </a:lnSpc>
              <a:spcBef>
                <a:spcPct val="0"/>
              </a:spcBef>
            </a:pPr>
            <a:r>
              <a:rPr lang="en-US" sz="1599" spc="159">
                <a:solidFill>
                  <a:srgbClr val="000000">
                    <a:alpha val="49804"/>
                  </a:srgbClr>
                </a:solidFill>
                <a:latin typeface="Be Vietnam"/>
                <a:ea typeface="Be Vietnam"/>
                <a:cs typeface="Be Vietnam"/>
                <a:sym typeface="Be Vietnam"/>
              </a:rPr>
              <a:t>LED CUBE NHÓM 5</a:t>
            </a:r>
          </a:p>
        </p:txBody>
      </p:sp>
      <p:sp>
        <p:nvSpPr>
          <p:cNvPr id="12" name="AutoShape 12"/>
          <p:cNvSpPr/>
          <p:nvPr/>
        </p:nvSpPr>
        <p:spPr>
          <a:xfrm flipV="1">
            <a:off x="4130147" y="5949221"/>
            <a:ext cx="0" cy="3330297"/>
          </a:xfrm>
          <a:prstGeom prst="line">
            <a:avLst/>
          </a:prstGeom>
          <a:ln w="38100" cap="rnd">
            <a:solidFill>
              <a:srgbClr val="8C7753"/>
            </a:solidFill>
            <a:prstDash val="solid"/>
            <a:headEnd type="oval" w="lg" len="lg"/>
            <a:tailEnd type="none" w="sm" len="sm"/>
          </a:ln>
        </p:spPr>
        <p:txBody>
          <a:bodyPr/>
          <a:lstStyle/>
          <a:p>
            <a:endParaRPr lang="en-001"/>
          </a:p>
        </p:txBody>
      </p:sp>
      <p:sp>
        <p:nvSpPr>
          <p:cNvPr id="13" name="TextBox 13"/>
          <p:cNvSpPr txBox="1"/>
          <p:nvPr/>
        </p:nvSpPr>
        <p:spPr>
          <a:xfrm>
            <a:off x="4434582" y="6611314"/>
            <a:ext cx="4935855" cy="15906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331B0D"/>
                </a:solidFill>
                <a:latin typeface="Be Vietnam"/>
                <a:ea typeface="Be Vietnam"/>
                <a:cs typeface="Be Vietnam"/>
                <a:sym typeface="Be Vietnam"/>
              </a:rPr>
              <a:t>Lập trình C cho ESP32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331B0D"/>
                </a:solidFill>
                <a:latin typeface="Be Vietnam"/>
                <a:ea typeface="Be Vietnam"/>
                <a:cs typeface="Be Vietnam"/>
                <a:sym typeface="Be Vietnam"/>
              </a:rPr>
              <a:t>Sử dụng Dabble</a:t>
            </a:r>
          </a:p>
          <a:p>
            <a:pPr marL="0" lvl="0" indent="0"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331B0D"/>
                </a:solidFill>
                <a:latin typeface="Be Vietnam"/>
                <a:ea typeface="Be Vietnam"/>
                <a:cs typeface="Be Vietnam"/>
                <a:sym typeface="Be Vietnam"/>
              </a:rPr>
              <a:t>Học về các linh kiện điện tử</a:t>
            </a:r>
          </a:p>
        </p:txBody>
      </p:sp>
      <p:sp>
        <p:nvSpPr>
          <p:cNvPr id="14" name="AutoShape 14"/>
          <p:cNvSpPr/>
          <p:nvPr/>
        </p:nvSpPr>
        <p:spPr>
          <a:xfrm flipV="1">
            <a:off x="10996014" y="5949221"/>
            <a:ext cx="0" cy="3330297"/>
          </a:xfrm>
          <a:prstGeom prst="line">
            <a:avLst/>
          </a:prstGeom>
          <a:ln w="38100" cap="rnd">
            <a:solidFill>
              <a:srgbClr val="8C7753"/>
            </a:solidFill>
            <a:prstDash val="solid"/>
            <a:headEnd type="oval" w="lg" len="lg"/>
            <a:tailEnd type="none" w="sm" len="sm"/>
          </a:ln>
        </p:spPr>
        <p:txBody>
          <a:bodyPr/>
          <a:lstStyle/>
          <a:p>
            <a:endParaRPr lang="en-001"/>
          </a:p>
        </p:txBody>
      </p:sp>
      <p:sp>
        <p:nvSpPr>
          <p:cNvPr id="15" name="TextBox 15"/>
          <p:cNvSpPr txBox="1"/>
          <p:nvPr/>
        </p:nvSpPr>
        <p:spPr>
          <a:xfrm>
            <a:off x="8213570" y="3515796"/>
            <a:ext cx="5263991" cy="15906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331B0D"/>
                </a:solidFill>
                <a:latin typeface="Be Vietnam"/>
                <a:ea typeface="Be Vietnam"/>
                <a:cs typeface="Be Vietnam"/>
                <a:sym typeface="Be Vietnam"/>
              </a:rPr>
              <a:t>Hình dung cách nối chân LED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331B0D"/>
                </a:solidFill>
                <a:latin typeface="Be Vietnam"/>
                <a:ea typeface="Be Vietnam"/>
                <a:cs typeface="Be Vietnam"/>
                <a:sym typeface="Be Vietnam"/>
              </a:rPr>
              <a:t>Thiết kế sơ đồ lý thuyết</a:t>
            </a:r>
          </a:p>
          <a:p>
            <a:pPr marL="0" lvl="0" indent="0"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331B0D"/>
                </a:solidFill>
                <a:latin typeface="Be Vietnam"/>
                <a:ea typeface="Be Vietnam"/>
                <a:cs typeface="Be Vietnam"/>
                <a:sym typeface="Be Vietnam"/>
              </a:rPr>
              <a:t>Thiết kế sơ đồ hàn mạch</a:t>
            </a:r>
          </a:p>
        </p:txBody>
      </p:sp>
      <p:sp>
        <p:nvSpPr>
          <p:cNvPr id="16" name="AutoShape 16"/>
          <p:cNvSpPr/>
          <p:nvPr/>
        </p:nvSpPr>
        <p:spPr>
          <a:xfrm>
            <a:off x="14781885" y="2566577"/>
            <a:ext cx="0" cy="3330297"/>
          </a:xfrm>
          <a:prstGeom prst="line">
            <a:avLst/>
          </a:prstGeom>
          <a:ln w="38100" cap="rnd">
            <a:solidFill>
              <a:srgbClr val="8C7753"/>
            </a:solidFill>
            <a:prstDash val="solid"/>
            <a:headEnd type="oval" w="lg" len="lg"/>
            <a:tailEnd type="none" w="sm" len="sm"/>
          </a:ln>
        </p:spPr>
        <p:txBody>
          <a:bodyPr/>
          <a:lstStyle/>
          <a:p>
            <a:endParaRPr lang="en-001"/>
          </a:p>
        </p:txBody>
      </p:sp>
      <p:sp>
        <p:nvSpPr>
          <p:cNvPr id="17" name="TextBox 17"/>
          <p:cNvSpPr txBox="1"/>
          <p:nvPr/>
        </p:nvSpPr>
        <p:spPr>
          <a:xfrm>
            <a:off x="11319864" y="6611314"/>
            <a:ext cx="5569148" cy="15906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331B0D"/>
                </a:solidFill>
                <a:latin typeface="Be Vietnam"/>
                <a:ea typeface="Be Vietnam"/>
                <a:cs typeface="Be Vietnam"/>
                <a:sym typeface="Be Vietnam"/>
              </a:rPr>
              <a:t>Kiểm tra LED sau khi hàn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331B0D"/>
                </a:solidFill>
                <a:latin typeface="Be Vietnam"/>
                <a:ea typeface="Be Vietnam"/>
                <a:cs typeface="Be Vietnam"/>
                <a:sym typeface="Be Vietnam"/>
              </a:rPr>
              <a:t>Kiểm tra ngắn mạch</a:t>
            </a:r>
          </a:p>
          <a:p>
            <a:pPr marL="0" lvl="0" indent="0"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331B0D"/>
                </a:solidFill>
                <a:latin typeface="Be Vietnam"/>
                <a:ea typeface="Be Vietnam"/>
                <a:cs typeface="Be Vietnam"/>
                <a:sym typeface="Be Vietnam"/>
              </a:rPr>
              <a:t>Chạy thử sáng LED theo tọa độ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40275" y="923925"/>
            <a:ext cx="8330162" cy="10096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399"/>
              </a:lnSpc>
              <a:spcBef>
                <a:spcPct val="0"/>
              </a:spcBef>
            </a:pPr>
            <a:r>
              <a:rPr lang="en-US" sz="5999" b="1">
                <a:solidFill>
                  <a:srgbClr val="000000"/>
                </a:solidFill>
                <a:latin typeface="K2D Bold"/>
                <a:ea typeface="K2D Bold"/>
                <a:cs typeface="K2D Bold"/>
                <a:sym typeface="K2D Bold"/>
              </a:rPr>
              <a:t>Phương pháp thực hiện</a:t>
            </a:r>
          </a:p>
        </p:txBody>
      </p:sp>
    </p:spTree>
  </p:cSld>
  <p:clrMapOvr>
    <a:masterClrMapping/>
  </p:clrMapOvr>
  <p:transition spd="slow">
    <p:push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492111" y="3046015"/>
            <a:ext cx="13509889" cy="22025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7975"/>
              </a:lnSpc>
              <a:spcBef>
                <a:spcPct val="0"/>
              </a:spcBef>
            </a:pPr>
            <a:r>
              <a:rPr lang="en-US" sz="12839" b="1" dirty="0">
                <a:solidFill>
                  <a:srgbClr val="000000"/>
                </a:solidFill>
                <a:latin typeface="Dancing Script Bold"/>
                <a:ea typeface="Dancing Script Bold"/>
                <a:cs typeface="Dancing Script Bold"/>
                <a:sym typeface="Dancing Script Bold"/>
              </a:rPr>
              <a:t>Nguyên Lý </a:t>
            </a:r>
            <a:r>
              <a:rPr lang="en-US" sz="12839" b="1" dirty="0" err="1">
                <a:solidFill>
                  <a:srgbClr val="000000"/>
                </a:solidFill>
                <a:latin typeface="Dancing Script Bold"/>
                <a:ea typeface="Dancing Script Bold"/>
                <a:cs typeface="Dancing Script Bold"/>
                <a:sym typeface="Dancing Script Bold"/>
              </a:rPr>
              <a:t>Hoạt</a:t>
            </a:r>
            <a:r>
              <a:rPr lang="en-US" sz="12839" b="1" dirty="0">
                <a:solidFill>
                  <a:srgbClr val="000000"/>
                </a:solidFill>
                <a:latin typeface="Dancing Script Bold"/>
                <a:ea typeface="Dancing Script Bold"/>
                <a:cs typeface="Dancing Script Bold"/>
                <a:sym typeface="Dancing Script Bold"/>
              </a:rPr>
              <a:t> </a:t>
            </a:r>
            <a:r>
              <a:rPr lang="en-US" sz="12839" b="1" dirty="0" err="1">
                <a:solidFill>
                  <a:srgbClr val="000000"/>
                </a:solidFill>
                <a:latin typeface="Dancing Script Bold"/>
                <a:ea typeface="Dancing Script Bold"/>
                <a:cs typeface="Dancing Script Bold"/>
                <a:sym typeface="Dancing Script Bold"/>
              </a:rPr>
              <a:t>Động</a:t>
            </a:r>
            <a:endParaRPr lang="en-US" sz="12839" b="1" dirty="0">
              <a:solidFill>
                <a:srgbClr val="000000"/>
              </a:solidFill>
              <a:latin typeface="Dancing Script Bold"/>
              <a:ea typeface="Dancing Script Bold"/>
              <a:cs typeface="Dancing Script Bold"/>
              <a:sym typeface="Dancing Script Bold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066800" y="9809813"/>
            <a:ext cx="2055316" cy="264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39"/>
              </a:lnSpc>
              <a:spcBef>
                <a:spcPct val="0"/>
              </a:spcBef>
            </a:pPr>
            <a:r>
              <a:rPr lang="en-US" sz="1599" spc="159">
                <a:solidFill>
                  <a:srgbClr val="000000">
                    <a:alpha val="49804"/>
                  </a:srgbClr>
                </a:solidFill>
                <a:latin typeface="Be Vietnam"/>
                <a:ea typeface="Be Vietnam"/>
                <a:cs typeface="Be Vietnam"/>
                <a:sym typeface="Be Vietnam"/>
              </a:rPr>
              <a:t>LED CUBE NHÓM 5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763988" y="5687564"/>
            <a:ext cx="8875812" cy="11017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099"/>
              </a:lnSpc>
              <a:spcBef>
                <a:spcPct val="0"/>
              </a:spcBef>
            </a:pPr>
            <a:r>
              <a:rPr lang="en-US" sz="6499" dirty="0">
                <a:solidFill>
                  <a:srgbClr val="000000"/>
                </a:solidFill>
                <a:latin typeface="K2D"/>
                <a:ea typeface="K2D"/>
                <a:cs typeface="K2D"/>
                <a:sym typeface="K2D"/>
              </a:rPr>
              <a:t>- </a:t>
            </a:r>
            <a:r>
              <a:rPr lang="en-US" sz="6499" dirty="0" err="1">
                <a:solidFill>
                  <a:srgbClr val="000000"/>
                </a:solidFill>
                <a:latin typeface="K2D"/>
                <a:ea typeface="K2D"/>
                <a:cs typeface="K2D"/>
                <a:sym typeface="K2D"/>
              </a:rPr>
              <a:t>Cách</a:t>
            </a:r>
            <a:r>
              <a:rPr lang="en-US" sz="6499" dirty="0">
                <a:solidFill>
                  <a:srgbClr val="000000"/>
                </a:solidFill>
                <a:latin typeface="K2D"/>
                <a:ea typeface="K2D"/>
                <a:cs typeface="K2D"/>
                <a:sym typeface="K2D"/>
              </a:rPr>
              <a:t> </a:t>
            </a:r>
            <a:r>
              <a:rPr lang="en-US" sz="6499" dirty="0" err="1">
                <a:solidFill>
                  <a:srgbClr val="000000"/>
                </a:solidFill>
                <a:latin typeface="K2D"/>
                <a:ea typeface="K2D"/>
                <a:cs typeface="K2D"/>
                <a:sym typeface="K2D"/>
              </a:rPr>
              <a:t>vận</a:t>
            </a:r>
            <a:r>
              <a:rPr lang="en-US" sz="6499" dirty="0">
                <a:solidFill>
                  <a:srgbClr val="000000"/>
                </a:solidFill>
                <a:latin typeface="K2D"/>
                <a:ea typeface="K2D"/>
                <a:cs typeface="K2D"/>
                <a:sym typeface="K2D"/>
              </a:rPr>
              <a:t> </a:t>
            </a:r>
            <a:r>
              <a:rPr lang="en-US" sz="6499" dirty="0" err="1">
                <a:solidFill>
                  <a:srgbClr val="000000"/>
                </a:solidFill>
                <a:latin typeface="K2D"/>
                <a:ea typeface="K2D"/>
                <a:cs typeface="K2D"/>
                <a:sym typeface="K2D"/>
              </a:rPr>
              <a:t>hành</a:t>
            </a:r>
            <a:r>
              <a:rPr lang="en-US" sz="6499" dirty="0">
                <a:solidFill>
                  <a:srgbClr val="000000"/>
                </a:solidFill>
                <a:latin typeface="K2D"/>
                <a:ea typeface="K2D"/>
                <a:cs typeface="K2D"/>
                <a:sym typeface="K2D"/>
              </a:rPr>
              <a:t> game -</a:t>
            </a:r>
          </a:p>
        </p:txBody>
      </p:sp>
    </p:spTree>
  </p:cSld>
  <p:clrMapOvr>
    <a:masterClrMapping/>
  </p:clrMapOvr>
  <p:transition spd="slow">
    <p:push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96635" y="3238243"/>
            <a:ext cx="8061078" cy="4527639"/>
          </a:xfrm>
          <a:custGeom>
            <a:avLst/>
            <a:gdLst/>
            <a:ahLst/>
            <a:cxnLst/>
            <a:rect l="l" t="t" r="r" b="b"/>
            <a:pathLst>
              <a:path w="8061078" h="4527639">
                <a:moveTo>
                  <a:pt x="0" y="0"/>
                </a:moveTo>
                <a:lnTo>
                  <a:pt x="8061077" y="0"/>
                </a:lnTo>
                <a:lnTo>
                  <a:pt x="8061077" y="4527638"/>
                </a:lnTo>
                <a:lnTo>
                  <a:pt x="0" y="45276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001"/>
          </a:p>
        </p:txBody>
      </p:sp>
      <p:sp>
        <p:nvSpPr>
          <p:cNvPr id="3" name="TextBox 3"/>
          <p:cNvSpPr txBox="1"/>
          <p:nvPr/>
        </p:nvSpPr>
        <p:spPr>
          <a:xfrm>
            <a:off x="1066800" y="9809813"/>
            <a:ext cx="2055316" cy="264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39"/>
              </a:lnSpc>
              <a:spcBef>
                <a:spcPct val="0"/>
              </a:spcBef>
            </a:pPr>
            <a:r>
              <a:rPr lang="en-US" sz="1599" spc="159">
                <a:solidFill>
                  <a:srgbClr val="000000">
                    <a:alpha val="49804"/>
                  </a:srgbClr>
                </a:solidFill>
                <a:latin typeface="Be Vietnam"/>
                <a:ea typeface="Be Vietnam"/>
                <a:cs typeface="Be Vietnam"/>
                <a:sym typeface="Be Vietnam"/>
              </a:rPr>
              <a:t>LED CUBE NHÓM 5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8457712" y="3330362"/>
            <a:ext cx="9433653" cy="4343400"/>
            <a:chOff x="0" y="0"/>
            <a:chExt cx="12578204" cy="5791200"/>
          </a:xfrm>
        </p:grpSpPr>
        <p:sp>
          <p:nvSpPr>
            <p:cNvPr id="5" name="TextBox 5"/>
            <p:cNvSpPr txBox="1"/>
            <p:nvPr/>
          </p:nvSpPr>
          <p:spPr>
            <a:xfrm>
              <a:off x="0" y="1905000"/>
              <a:ext cx="12578204" cy="1320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712470" lvl="1" indent="-356235" algn="l">
                <a:lnSpc>
                  <a:spcPts val="3960"/>
                </a:lnSpc>
                <a:buFont typeface="Arial"/>
                <a:buChar char="•"/>
              </a:pPr>
              <a:r>
                <a:rPr lang="en-US" sz="3300" spc="330">
                  <a:solidFill>
                    <a:srgbClr val="000000"/>
                  </a:solidFill>
                  <a:latin typeface="Be Vietnam"/>
                  <a:ea typeface="Be Vietnam"/>
                  <a:cs typeface="Be Vietnam"/>
                  <a:sym typeface="Be Vietnam"/>
                </a:rPr>
                <a:t>Kết nối điện thoại với ESP32/Arduino qua Bluetooth.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3810000"/>
              <a:ext cx="12578204" cy="19812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712470" lvl="1" indent="-356235" algn="l">
                <a:lnSpc>
                  <a:spcPts val="3960"/>
                </a:lnSpc>
                <a:buFont typeface="Arial"/>
                <a:buChar char="•"/>
              </a:pPr>
              <a:r>
                <a:rPr lang="en-US" sz="3300" spc="330">
                  <a:solidFill>
                    <a:srgbClr val="000000"/>
                  </a:solidFill>
                  <a:latin typeface="Be Vietnam"/>
                  <a:ea typeface="Be Vietnam"/>
                  <a:cs typeface="Be Vietnam"/>
                  <a:sym typeface="Be Vietnam"/>
                </a:rPr>
                <a:t>Cung cấp các module điều khiển như: GamePad, Joystick, Slider, IoT, LED Controller, Terminal,... 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0"/>
              <a:ext cx="12578204" cy="1320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712470" lvl="1" indent="-356235" algn="l">
                <a:lnSpc>
                  <a:spcPts val="3960"/>
                </a:lnSpc>
                <a:buFont typeface="Arial"/>
                <a:buChar char="•"/>
              </a:pPr>
              <a:r>
                <a:rPr lang="en-US" sz="3300" spc="330">
                  <a:solidFill>
                    <a:srgbClr val="000000"/>
                  </a:solidFill>
                  <a:latin typeface="Be Vietnam"/>
                  <a:ea typeface="Be Vietnam"/>
                  <a:cs typeface="Be Vietnam"/>
                  <a:sym typeface="Be Vietnam"/>
                </a:rPr>
                <a:t>Biến điện thoại thông minh thành bộ điều khiển.</a:t>
              </a: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391903" y="514860"/>
            <a:ext cx="5655112" cy="650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99"/>
              </a:lnSpc>
            </a:pPr>
            <a:r>
              <a:rPr lang="en-US" sz="4999" b="1" spc="-299">
                <a:solidFill>
                  <a:srgbClr val="331B0D"/>
                </a:solidFill>
                <a:latin typeface="K2D Bold"/>
                <a:ea typeface="K2D Bold"/>
                <a:cs typeface="K2D Bold"/>
                <a:sym typeface="K2D Bold"/>
              </a:rPr>
              <a:t>Nguyên Lý Hoạt Động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700" y="1116534"/>
            <a:ext cx="5981700" cy="6502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dirty="0">
                <a:solidFill>
                  <a:srgbClr val="331B0D"/>
                </a:solidFill>
                <a:latin typeface="Be Vietnam"/>
                <a:ea typeface="Be Vietnam"/>
                <a:cs typeface="Be Vietnam"/>
                <a:sym typeface="Be Vietnam"/>
              </a:rPr>
              <a:t>1. </a:t>
            </a:r>
            <a:r>
              <a:rPr lang="en-US" sz="3999" dirty="0" err="1">
                <a:solidFill>
                  <a:srgbClr val="331B0D"/>
                </a:solidFill>
                <a:latin typeface="Be Vietnam"/>
                <a:ea typeface="Be Vietnam"/>
                <a:cs typeface="Be Vietnam"/>
                <a:sym typeface="Be Vietnam"/>
              </a:rPr>
              <a:t>Phần</a:t>
            </a:r>
            <a:r>
              <a:rPr lang="en-US" sz="3999" dirty="0">
                <a:solidFill>
                  <a:srgbClr val="331B0D"/>
                </a:solidFill>
                <a:latin typeface="Be Vietnam"/>
                <a:ea typeface="Be Vietnam"/>
                <a:cs typeface="Be Vietnam"/>
                <a:sym typeface="Be Vietnam"/>
              </a:rPr>
              <a:t> </a:t>
            </a:r>
            <a:r>
              <a:rPr lang="en-US" sz="3999" dirty="0" err="1">
                <a:solidFill>
                  <a:srgbClr val="331B0D"/>
                </a:solidFill>
                <a:latin typeface="Be Vietnam"/>
                <a:ea typeface="Be Vietnam"/>
                <a:cs typeface="Be Vietnam"/>
                <a:sym typeface="Be Vietnam"/>
              </a:rPr>
              <a:t>mềm</a:t>
            </a:r>
            <a:r>
              <a:rPr lang="en-US" sz="3999" dirty="0">
                <a:solidFill>
                  <a:srgbClr val="331B0D"/>
                </a:solidFill>
                <a:latin typeface="Be Vietnam"/>
                <a:ea typeface="Be Vietnam"/>
                <a:cs typeface="Be Vietnam"/>
                <a:sym typeface="Be Vietnam"/>
              </a:rPr>
              <a:t> </a:t>
            </a:r>
            <a:r>
              <a:rPr lang="en-US" sz="3999" dirty="0" err="1">
                <a:solidFill>
                  <a:srgbClr val="331B0D"/>
                </a:solidFill>
                <a:latin typeface="Be Vietnam"/>
                <a:ea typeface="Be Vietnam"/>
                <a:cs typeface="Be Vietnam"/>
                <a:sym typeface="Be Vietnam"/>
              </a:rPr>
              <a:t>điều</a:t>
            </a:r>
            <a:r>
              <a:rPr lang="en-US" sz="3999" dirty="0">
                <a:solidFill>
                  <a:srgbClr val="331B0D"/>
                </a:solidFill>
                <a:latin typeface="Be Vietnam"/>
                <a:ea typeface="Be Vietnam"/>
                <a:cs typeface="Be Vietnam"/>
                <a:sym typeface="Be Vietnam"/>
              </a:rPr>
              <a:t> </a:t>
            </a:r>
            <a:r>
              <a:rPr lang="en-US" sz="3999" dirty="0" err="1">
                <a:solidFill>
                  <a:srgbClr val="331B0D"/>
                </a:solidFill>
                <a:latin typeface="Be Vietnam"/>
                <a:ea typeface="Be Vietnam"/>
                <a:cs typeface="Be Vietnam"/>
                <a:sym typeface="Be Vietnam"/>
              </a:rPr>
              <a:t>khiển</a:t>
            </a:r>
            <a:endParaRPr lang="en-US" sz="3999" dirty="0">
              <a:solidFill>
                <a:srgbClr val="331B0D"/>
              </a:solidFill>
              <a:latin typeface="Be Vietnam"/>
              <a:ea typeface="Be Vietnam"/>
              <a:cs typeface="Be Vietnam"/>
              <a:sym typeface="Be Vietnam"/>
            </a:endParaRPr>
          </a:p>
        </p:txBody>
      </p:sp>
    </p:spTree>
  </p:cSld>
  <p:clrMapOvr>
    <a:masterClrMapping/>
  </p:clrMapOvr>
  <p:transition spd="slow">
    <p:push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16687" y="3464955"/>
            <a:ext cx="9048098" cy="4501429"/>
          </a:xfrm>
          <a:custGeom>
            <a:avLst/>
            <a:gdLst/>
            <a:ahLst/>
            <a:cxnLst/>
            <a:rect l="l" t="t" r="r" b="b"/>
            <a:pathLst>
              <a:path w="9048098" h="4501429">
                <a:moveTo>
                  <a:pt x="0" y="0"/>
                </a:moveTo>
                <a:lnTo>
                  <a:pt x="9048098" y="0"/>
                </a:lnTo>
                <a:lnTo>
                  <a:pt x="9048098" y="4501429"/>
                </a:lnTo>
                <a:lnTo>
                  <a:pt x="0" y="450142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001"/>
          </a:p>
        </p:txBody>
      </p:sp>
      <p:sp>
        <p:nvSpPr>
          <p:cNvPr id="3" name="Freeform 3"/>
          <p:cNvSpPr/>
          <p:nvPr/>
        </p:nvSpPr>
        <p:spPr>
          <a:xfrm rot="8508653">
            <a:off x="2992959" y="4077583"/>
            <a:ext cx="1336911" cy="439965"/>
          </a:xfrm>
          <a:custGeom>
            <a:avLst/>
            <a:gdLst/>
            <a:ahLst/>
            <a:cxnLst/>
            <a:rect l="l" t="t" r="r" b="b"/>
            <a:pathLst>
              <a:path w="1336911" h="439965">
                <a:moveTo>
                  <a:pt x="0" y="0"/>
                </a:moveTo>
                <a:lnTo>
                  <a:pt x="1336911" y="0"/>
                </a:lnTo>
                <a:lnTo>
                  <a:pt x="1336911" y="439966"/>
                </a:lnTo>
                <a:lnTo>
                  <a:pt x="0" y="43996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lgDash"/>
            <a:miter/>
          </a:ln>
        </p:spPr>
        <p:txBody>
          <a:bodyPr/>
          <a:lstStyle/>
          <a:p>
            <a:endParaRPr lang="en-001"/>
          </a:p>
        </p:txBody>
      </p:sp>
      <p:sp>
        <p:nvSpPr>
          <p:cNvPr id="4" name="TextBox 4"/>
          <p:cNvSpPr txBox="1"/>
          <p:nvPr/>
        </p:nvSpPr>
        <p:spPr>
          <a:xfrm>
            <a:off x="1066800" y="9809813"/>
            <a:ext cx="2055316" cy="264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39"/>
              </a:lnSpc>
              <a:spcBef>
                <a:spcPct val="0"/>
              </a:spcBef>
            </a:pPr>
            <a:r>
              <a:rPr lang="en-US" sz="1599" spc="159">
                <a:solidFill>
                  <a:srgbClr val="000000">
                    <a:alpha val="49804"/>
                  </a:srgbClr>
                </a:solidFill>
                <a:latin typeface="Be Vietnam"/>
                <a:ea typeface="Be Vietnam"/>
                <a:cs typeface="Be Vietnam"/>
                <a:sym typeface="Be Vietnam"/>
              </a:rPr>
              <a:t>LED CUBE NHÓM 5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524720" y="8279492"/>
            <a:ext cx="5171480" cy="3334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599"/>
              </a:lnSpc>
              <a:spcBef>
                <a:spcPct val="0"/>
              </a:spcBef>
            </a:pPr>
            <a:r>
              <a:rPr lang="en-US" sz="2599" i="1" spc="259" dirty="0" err="1">
                <a:solidFill>
                  <a:srgbClr val="000000"/>
                </a:solidFill>
                <a:latin typeface="Be Vietnam Italics"/>
                <a:ea typeface="Be Vietnam Italics"/>
                <a:cs typeface="Be Vietnam Italics"/>
                <a:sym typeface="Be Vietnam Italics"/>
              </a:rPr>
              <a:t>Hình</a:t>
            </a:r>
            <a:r>
              <a:rPr lang="en-US" sz="2599" i="1" spc="259" dirty="0">
                <a:solidFill>
                  <a:srgbClr val="000000"/>
                </a:solidFill>
                <a:latin typeface="Be Vietnam Italics"/>
                <a:ea typeface="Be Vietnam Italics"/>
                <a:cs typeface="Be Vietnam Italics"/>
                <a:sym typeface="Be Vietnam Italics"/>
              </a:rPr>
              <a:t> 1: Giao </a:t>
            </a:r>
            <a:r>
              <a:rPr lang="en-US" sz="2599" i="1" spc="259" dirty="0" err="1">
                <a:solidFill>
                  <a:srgbClr val="000000"/>
                </a:solidFill>
                <a:latin typeface="Be Vietnam Italics"/>
                <a:ea typeface="Be Vietnam Italics"/>
                <a:cs typeface="Be Vietnam Italics"/>
                <a:sym typeface="Be Vietnam Italics"/>
              </a:rPr>
              <a:t>diện</a:t>
            </a:r>
            <a:r>
              <a:rPr lang="en-US" sz="2599" i="1" spc="259" dirty="0">
                <a:solidFill>
                  <a:srgbClr val="000000"/>
                </a:solidFill>
                <a:latin typeface="Be Vietnam Italics"/>
                <a:ea typeface="Be Vietnam Italics"/>
                <a:cs typeface="Be Vietnam Italics"/>
                <a:sym typeface="Be Vietnam Italics"/>
              </a:rPr>
              <a:t> Gamepad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564785" y="3476370"/>
            <a:ext cx="8320265" cy="2083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72" lvl="1" indent="-345436" algn="l">
              <a:lnSpc>
                <a:spcPts val="4159"/>
              </a:lnSpc>
              <a:buFont typeface="Arial"/>
              <a:buChar char="•"/>
            </a:pPr>
            <a:r>
              <a:rPr lang="en-US" sz="3199" spc="319" dirty="0" err="1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Gồm</a:t>
            </a:r>
            <a:r>
              <a:rPr lang="en-US" sz="3199" spc="319" dirty="0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 4 </a:t>
            </a:r>
            <a:r>
              <a:rPr lang="en-US" sz="3199" spc="319" dirty="0" err="1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nút</a:t>
            </a:r>
            <a:r>
              <a:rPr lang="en-US" sz="3199" spc="319" dirty="0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 </a:t>
            </a:r>
            <a:r>
              <a:rPr lang="en-US" sz="3199" spc="319" dirty="0" err="1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bên</a:t>
            </a:r>
            <a:r>
              <a:rPr lang="en-US" sz="3199" spc="319" dirty="0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 </a:t>
            </a:r>
            <a:r>
              <a:rPr lang="en-US" sz="3199" spc="319" dirty="0" err="1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trái</a:t>
            </a:r>
            <a:r>
              <a:rPr lang="en-US" sz="3199" spc="319" dirty="0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 (Up, Down, Left, Right), 4 </a:t>
            </a:r>
            <a:r>
              <a:rPr lang="en-US" sz="3199" spc="319" dirty="0" err="1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nút</a:t>
            </a:r>
            <a:r>
              <a:rPr lang="en-US" sz="3199" spc="319" dirty="0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 </a:t>
            </a:r>
            <a:r>
              <a:rPr lang="en-US" sz="3199" spc="319" dirty="0" err="1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bên</a:t>
            </a:r>
            <a:r>
              <a:rPr lang="en-US" sz="3199" spc="319" dirty="0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 </a:t>
            </a:r>
            <a:r>
              <a:rPr lang="en-US" sz="3199" spc="319" dirty="0" err="1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phải</a:t>
            </a:r>
            <a:r>
              <a:rPr lang="en-US" sz="3199" spc="319" dirty="0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 (Circle, Cross, Triangle, Square) </a:t>
            </a:r>
            <a:r>
              <a:rPr lang="en-US" sz="3199" spc="319" dirty="0" err="1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và</a:t>
            </a:r>
            <a:r>
              <a:rPr lang="en-US" sz="3199" spc="319" dirty="0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 2 </a:t>
            </a:r>
            <a:r>
              <a:rPr lang="en-US" sz="3199" spc="319" dirty="0" err="1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nút</a:t>
            </a:r>
            <a:r>
              <a:rPr lang="en-US" sz="3199" spc="319" dirty="0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 Select, Start.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564785" y="5882949"/>
            <a:ext cx="8320265" cy="15595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72" lvl="1" indent="-345436" algn="l">
              <a:lnSpc>
                <a:spcPts val="4159"/>
              </a:lnSpc>
              <a:buFont typeface="Arial"/>
              <a:buChar char="•"/>
            </a:pPr>
            <a:r>
              <a:rPr lang="en-US" sz="3199" spc="319" dirty="0" err="1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Để</a:t>
            </a:r>
            <a:r>
              <a:rPr lang="en-US" sz="3199" spc="319" dirty="0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 </a:t>
            </a:r>
            <a:r>
              <a:rPr lang="en-US" sz="3199" spc="319" dirty="0" err="1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điều</a:t>
            </a:r>
            <a:r>
              <a:rPr lang="en-US" sz="3199" spc="319" dirty="0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 </a:t>
            </a:r>
            <a:r>
              <a:rPr lang="en-US" sz="3199" spc="319" dirty="0" err="1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khiển</a:t>
            </a:r>
            <a:r>
              <a:rPr lang="en-US" sz="3199" spc="319" dirty="0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 “con </a:t>
            </a:r>
            <a:r>
              <a:rPr lang="en-US" sz="3199" spc="319" dirty="0" err="1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rắn</a:t>
            </a:r>
            <a:r>
              <a:rPr lang="en-US" sz="3199" spc="319" dirty="0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”, </a:t>
            </a:r>
            <a:r>
              <a:rPr lang="en-US" sz="3199" spc="319" dirty="0" err="1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nhóm</a:t>
            </a:r>
            <a:r>
              <a:rPr lang="en-US" sz="3199" spc="319" dirty="0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 </a:t>
            </a:r>
            <a:r>
              <a:rPr lang="en-US" sz="3199" spc="319" dirty="0" err="1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sử</a:t>
            </a:r>
            <a:r>
              <a:rPr lang="en-US" sz="3199" spc="319" dirty="0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 </a:t>
            </a:r>
            <a:r>
              <a:rPr lang="en-US" sz="3199" spc="319" dirty="0" err="1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dụng</a:t>
            </a:r>
            <a:r>
              <a:rPr lang="en-US" sz="3199" spc="319" dirty="0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 6 </a:t>
            </a:r>
            <a:r>
              <a:rPr lang="en-US" sz="3199" spc="319" dirty="0" err="1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nút</a:t>
            </a:r>
            <a:r>
              <a:rPr lang="en-US" sz="3199" spc="319" dirty="0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 (Up, Down, Left, Right, Triangle, Cross).</a:t>
            </a:r>
          </a:p>
        </p:txBody>
      </p:sp>
      <p:sp>
        <p:nvSpPr>
          <p:cNvPr id="8" name="Freeform 8"/>
          <p:cNvSpPr/>
          <p:nvPr/>
        </p:nvSpPr>
        <p:spPr>
          <a:xfrm rot="-7919619">
            <a:off x="3839710" y="6006619"/>
            <a:ext cx="1255230" cy="413085"/>
          </a:xfrm>
          <a:custGeom>
            <a:avLst/>
            <a:gdLst/>
            <a:ahLst/>
            <a:cxnLst/>
            <a:rect l="l" t="t" r="r" b="b"/>
            <a:pathLst>
              <a:path w="1255230" h="413085">
                <a:moveTo>
                  <a:pt x="0" y="0"/>
                </a:moveTo>
                <a:lnTo>
                  <a:pt x="1255230" y="0"/>
                </a:lnTo>
                <a:lnTo>
                  <a:pt x="1255230" y="413085"/>
                </a:lnTo>
                <a:lnTo>
                  <a:pt x="0" y="41308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lgDash"/>
            <a:miter/>
          </a:ln>
        </p:spPr>
        <p:txBody>
          <a:bodyPr/>
          <a:lstStyle/>
          <a:p>
            <a:endParaRPr lang="en-001"/>
          </a:p>
        </p:txBody>
      </p:sp>
      <p:sp>
        <p:nvSpPr>
          <p:cNvPr id="9" name="Freeform 9"/>
          <p:cNvSpPr/>
          <p:nvPr/>
        </p:nvSpPr>
        <p:spPr>
          <a:xfrm rot="-2168203">
            <a:off x="2140222" y="6831547"/>
            <a:ext cx="1342419" cy="441778"/>
          </a:xfrm>
          <a:custGeom>
            <a:avLst/>
            <a:gdLst/>
            <a:ahLst/>
            <a:cxnLst/>
            <a:rect l="l" t="t" r="r" b="b"/>
            <a:pathLst>
              <a:path w="1342419" h="441778">
                <a:moveTo>
                  <a:pt x="0" y="0"/>
                </a:moveTo>
                <a:lnTo>
                  <a:pt x="1342419" y="0"/>
                </a:lnTo>
                <a:lnTo>
                  <a:pt x="1342419" y="441778"/>
                </a:lnTo>
                <a:lnTo>
                  <a:pt x="0" y="44177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lgDash"/>
            <a:miter/>
          </a:ln>
        </p:spPr>
        <p:txBody>
          <a:bodyPr/>
          <a:lstStyle/>
          <a:p>
            <a:endParaRPr lang="en-001"/>
          </a:p>
        </p:txBody>
      </p:sp>
      <p:sp>
        <p:nvSpPr>
          <p:cNvPr id="10" name="Freeform 10"/>
          <p:cNvSpPr/>
          <p:nvPr/>
        </p:nvSpPr>
        <p:spPr>
          <a:xfrm rot="3253575">
            <a:off x="1449889" y="4943129"/>
            <a:ext cx="1217727" cy="400743"/>
          </a:xfrm>
          <a:custGeom>
            <a:avLst/>
            <a:gdLst/>
            <a:ahLst/>
            <a:cxnLst/>
            <a:rect l="l" t="t" r="r" b="b"/>
            <a:pathLst>
              <a:path w="1217727" h="400743">
                <a:moveTo>
                  <a:pt x="0" y="0"/>
                </a:moveTo>
                <a:lnTo>
                  <a:pt x="1217727" y="0"/>
                </a:lnTo>
                <a:lnTo>
                  <a:pt x="1217727" y="400742"/>
                </a:lnTo>
                <a:lnTo>
                  <a:pt x="0" y="4007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lgDash"/>
            <a:miter/>
          </a:ln>
        </p:spPr>
        <p:txBody>
          <a:bodyPr/>
          <a:lstStyle/>
          <a:p>
            <a:endParaRPr lang="en-001"/>
          </a:p>
        </p:txBody>
      </p:sp>
      <p:sp>
        <p:nvSpPr>
          <p:cNvPr id="11" name="TextBox 11"/>
          <p:cNvSpPr txBox="1"/>
          <p:nvPr/>
        </p:nvSpPr>
        <p:spPr>
          <a:xfrm>
            <a:off x="4322810" y="3778062"/>
            <a:ext cx="790098" cy="4025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99"/>
              </a:lnSpc>
              <a:spcBef>
                <a:spcPct val="0"/>
              </a:spcBef>
            </a:pPr>
            <a:r>
              <a:rPr lang="en-US" sz="3099" b="1" spc="309" dirty="0" err="1">
                <a:solidFill>
                  <a:srgbClr val="FF3131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Tới</a:t>
            </a:r>
            <a:endParaRPr lang="en-US" sz="3099" b="1" spc="309" dirty="0">
              <a:solidFill>
                <a:srgbClr val="FF3131"/>
              </a:solidFill>
              <a:latin typeface="Be Vietnam Ultra-Bold"/>
              <a:ea typeface="Be Vietnam Ultra-Bold"/>
              <a:cs typeface="Be Vietnam Ultra-Bold"/>
              <a:sym typeface="Be Vietnam Ultra-Bold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448527" y="7107687"/>
            <a:ext cx="881896" cy="4025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99"/>
              </a:lnSpc>
              <a:spcBef>
                <a:spcPct val="0"/>
              </a:spcBef>
            </a:pPr>
            <a:r>
              <a:rPr lang="en-US" sz="3099" b="1" spc="309" dirty="0" err="1">
                <a:solidFill>
                  <a:srgbClr val="FF3131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Lùi</a:t>
            </a:r>
            <a:endParaRPr lang="en-US" sz="3099" b="1" spc="309" dirty="0">
              <a:solidFill>
                <a:srgbClr val="FF3131"/>
              </a:solidFill>
              <a:latin typeface="Be Vietnam Ultra-Bold"/>
              <a:ea typeface="Be Vietnam Ultra-Bold"/>
              <a:cs typeface="Be Vietnam Ultra-Bold"/>
              <a:sym typeface="Be Vietnam Ultra-Bold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4467325" y="6884479"/>
            <a:ext cx="987385" cy="4025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99"/>
              </a:lnSpc>
              <a:spcBef>
                <a:spcPct val="0"/>
              </a:spcBef>
            </a:pPr>
            <a:r>
              <a:rPr lang="en-US" sz="3099" b="1" spc="309">
                <a:solidFill>
                  <a:srgbClr val="FF3131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Phải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468686" y="4134830"/>
            <a:ext cx="906559" cy="3975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99"/>
              </a:lnSpc>
              <a:spcBef>
                <a:spcPct val="0"/>
              </a:spcBef>
            </a:pPr>
            <a:r>
              <a:rPr lang="en-US" sz="3099" b="1" spc="309" dirty="0" err="1">
                <a:solidFill>
                  <a:srgbClr val="FF3131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Trái</a:t>
            </a:r>
            <a:endParaRPr lang="en-US" sz="3099" b="1" spc="309" dirty="0">
              <a:solidFill>
                <a:srgbClr val="FF3131"/>
              </a:solidFill>
              <a:latin typeface="Be Vietnam Ultra-Bold"/>
              <a:ea typeface="Be Vietnam Ultra-Bold"/>
              <a:cs typeface="Be Vietnam Ultra-Bold"/>
              <a:sym typeface="Be Vietnam Ultra-Bold"/>
            </a:endParaRPr>
          </a:p>
        </p:txBody>
      </p:sp>
      <p:sp>
        <p:nvSpPr>
          <p:cNvPr id="15" name="Freeform 15"/>
          <p:cNvSpPr/>
          <p:nvPr/>
        </p:nvSpPr>
        <p:spPr>
          <a:xfrm rot="2768655">
            <a:off x="5554333" y="4552924"/>
            <a:ext cx="1200871" cy="395196"/>
          </a:xfrm>
          <a:custGeom>
            <a:avLst/>
            <a:gdLst/>
            <a:ahLst/>
            <a:cxnLst/>
            <a:rect l="l" t="t" r="r" b="b"/>
            <a:pathLst>
              <a:path w="1200871" h="395196">
                <a:moveTo>
                  <a:pt x="0" y="0"/>
                </a:moveTo>
                <a:lnTo>
                  <a:pt x="1200870" y="0"/>
                </a:lnTo>
                <a:lnTo>
                  <a:pt x="1200870" y="395195"/>
                </a:lnTo>
                <a:lnTo>
                  <a:pt x="0" y="39519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lgDash"/>
            <a:miter/>
          </a:ln>
        </p:spPr>
        <p:txBody>
          <a:bodyPr/>
          <a:lstStyle/>
          <a:p>
            <a:endParaRPr lang="en-001"/>
          </a:p>
        </p:txBody>
      </p:sp>
      <p:sp>
        <p:nvSpPr>
          <p:cNvPr id="16" name="TextBox 16"/>
          <p:cNvSpPr txBox="1"/>
          <p:nvPr/>
        </p:nvSpPr>
        <p:spPr>
          <a:xfrm>
            <a:off x="5492535" y="3778062"/>
            <a:ext cx="893837" cy="4025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99"/>
              </a:lnSpc>
              <a:spcBef>
                <a:spcPct val="0"/>
              </a:spcBef>
            </a:pPr>
            <a:r>
              <a:rPr lang="en-US" sz="3099" b="1" spc="309" dirty="0" err="1">
                <a:solidFill>
                  <a:srgbClr val="FF3131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Lên</a:t>
            </a:r>
            <a:endParaRPr lang="en-US" sz="3099" b="1" spc="309" dirty="0">
              <a:solidFill>
                <a:srgbClr val="FF3131"/>
              </a:solidFill>
              <a:latin typeface="Be Vietnam Ultra-Bold"/>
              <a:ea typeface="Be Vietnam Ultra-Bold"/>
              <a:cs typeface="Be Vietnam Ultra-Bold"/>
              <a:sym typeface="Be Vietnam Ultra-Bold"/>
            </a:endParaRPr>
          </a:p>
        </p:txBody>
      </p:sp>
      <p:sp>
        <p:nvSpPr>
          <p:cNvPr id="17" name="Freeform 17"/>
          <p:cNvSpPr/>
          <p:nvPr/>
        </p:nvSpPr>
        <p:spPr>
          <a:xfrm rot="-7889631">
            <a:off x="6909312" y="6620206"/>
            <a:ext cx="1200871" cy="395196"/>
          </a:xfrm>
          <a:custGeom>
            <a:avLst/>
            <a:gdLst/>
            <a:ahLst/>
            <a:cxnLst/>
            <a:rect l="l" t="t" r="r" b="b"/>
            <a:pathLst>
              <a:path w="1200871" h="395196">
                <a:moveTo>
                  <a:pt x="0" y="0"/>
                </a:moveTo>
                <a:lnTo>
                  <a:pt x="1200871" y="0"/>
                </a:lnTo>
                <a:lnTo>
                  <a:pt x="1200871" y="395195"/>
                </a:lnTo>
                <a:lnTo>
                  <a:pt x="0" y="39519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lgDash"/>
            <a:miter/>
          </a:ln>
        </p:spPr>
        <p:txBody>
          <a:bodyPr/>
          <a:lstStyle/>
          <a:p>
            <a:endParaRPr lang="en-001"/>
          </a:p>
        </p:txBody>
      </p:sp>
      <p:sp>
        <p:nvSpPr>
          <p:cNvPr id="18" name="TextBox 18"/>
          <p:cNvSpPr txBox="1"/>
          <p:nvPr/>
        </p:nvSpPr>
        <p:spPr>
          <a:xfrm>
            <a:off x="6646215" y="7308982"/>
            <a:ext cx="1403390" cy="4025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99"/>
              </a:lnSpc>
              <a:spcBef>
                <a:spcPct val="0"/>
              </a:spcBef>
            </a:pPr>
            <a:r>
              <a:rPr lang="en-US" sz="3099" b="1" spc="309" dirty="0" err="1">
                <a:solidFill>
                  <a:srgbClr val="FF3131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Xuống</a:t>
            </a:r>
            <a:endParaRPr lang="en-US" sz="3099" b="1" spc="309" dirty="0">
              <a:solidFill>
                <a:srgbClr val="FF3131"/>
              </a:solidFill>
              <a:latin typeface="Be Vietnam Ultra-Bold"/>
              <a:ea typeface="Be Vietnam Ultra-Bold"/>
              <a:cs typeface="Be Vietnam Ultra-Bold"/>
              <a:sym typeface="Be Vietnam Ultra-Bold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391903" y="514860"/>
            <a:ext cx="5655112" cy="650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99"/>
              </a:lnSpc>
            </a:pPr>
            <a:r>
              <a:rPr lang="en-US" sz="4999" b="1" spc="-299">
                <a:solidFill>
                  <a:srgbClr val="331B0D"/>
                </a:solidFill>
                <a:latin typeface="K2D Bold"/>
                <a:ea typeface="K2D Bold"/>
                <a:cs typeface="K2D Bold"/>
                <a:sym typeface="K2D Bold"/>
              </a:rPr>
              <a:t>Nguyên Lý Hoạt Động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28700" y="1116534"/>
            <a:ext cx="5935228" cy="6502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dirty="0">
                <a:solidFill>
                  <a:srgbClr val="331B0D"/>
                </a:solidFill>
                <a:latin typeface="Be Vietnam"/>
                <a:ea typeface="Be Vietnam"/>
                <a:cs typeface="Be Vietnam"/>
                <a:sym typeface="Be Vietnam"/>
              </a:rPr>
              <a:t>1. </a:t>
            </a:r>
            <a:r>
              <a:rPr lang="en-US" sz="3999" dirty="0" err="1">
                <a:solidFill>
                  <a:srgbClr val="331B0D"/>
                </a:solidFill>
                <a:latin typeface="Be Vietnam"/>
                <a:ea typeface="Be Vietnam"/>
                <a:cs typeface="Be Vietnam"/>
                <a:sym typeface="Be Vietnam"/>
              </a:rPr>
              <a:t>Phần</a:t>
            </a:r>
            <a:r>
              <a:rPr lang="en-US" sz="3999" dirty="0">
                <a:solidFill>
                  <a:srgbClr val="331B0D"/>
                </a:solidFill>
                <a:latin typeface="Be Vietnam"/>
                <a:ea typeface="Be Vietnam"/>
                <a:cs typeface="Be Vietnam"/>
                <a:sym typeface="Be Vietnam"/>
              </a:rPr>
              <a:t> </a:t>
            </a:r>
            <a:r>
              <a:rPr lang="en-US" sz="3999" dirty="0" err="1">
                <a:solidFill>
                  <a:srgbClr val="331B0D"/>
                </a:solidFill>
                <a:latin typeface="Be Vietnam"/>
                <a:ea typeface="Be Vietnam"/>
                <a:cs typeface="Be Vietnam"/>
                <a:sym typeface="Be Vietnam"/>
              </a:rPr>
              <a:t>mềm</a:t>
            </a:r>
            <a:r>
              <a:rPr lang="en-US" sz="3999" dirty="0">
                <a:solidFill>
                  <a:srgbClr val="331B0D"/>
                </a:solidFill>
                <a:latin typeface="Be Vietnam"/>
                <a:ea typeface="Be Vietnam"/>
                <a:cs typeface="Be Vietnam"/>
                <a:sym typeface="Be Vietnam"/>
              </a:rPr>
              <a:t> </a:t>
            </a:r>
            <a:r>
              <a:rPr lang="en-US" sz="3999" dirty="0" err="1">
                <a:solidFill>
                  <a:srgbClr val="331B0D"/>
                </a:solidFill>
                <a:latin typeface="Be Vietnam"/>
                <a:ea typeface="Be Vietnam"/>
                <a:cs typeface="Be Vietnam"/>
                <a:sym typeface="Be Vietnam"/>
              </a:rPr>
              <a:t>điều</a:t>
            </a:r>
            <a:r>
              <a:rPr lang="en-US" sz="3999" dirty="0">
                <a:solidFill>
                  <a:srgbClr val="331B0D"/>
                </a:solidFill>
                <a:latin typeface="Be Vietnam"/>
                <a:ea typeface="Be Vietnam"/>
                <a:cs typeface="Be Vietnam"/>
                <a:sym typeface="Be Vietnam"/>
              </a:rPr>
              <a:t> </a:t>
            </a:r>
            <a:r>
              <a:rPr lang="en-US" sz="3999" dirty="0" err="1">
                <a:solidFill>
                  <a:srgbClr val="331B0D"/>
                </a:solidFill>
                <a:latin typeface="Be Vietnam"/>
                <a:ea typeface="Be Vietnam"/>
                <a:cs typeface="Be Vietnam"/>
                <a:sym typeface="Be Vietnam"/>
              </a:rPr>
              <a:t>khiển</a:t>
            </a:r>
            <a:endParaRPr lang="en-US" sz="3999" dirty="0">
              <a:solidFill>
                <a:srgbClr val="331B0D"/>
              </a:solidFill>
              <a:latin typeface="Be Vietnam"/>
              <a:ea typeface="Be Vietnam"/>
              <a:cs typeface="Be Vietnam"/>
              <a:sym typeface="Be Vietnam"/>
            </a:endParaRPr>
          </a:p>
        </p:txBody>
      </p:sp>
    </p:spTree>
  </p:cSld>
  <p:clrMapOvr>
    <a:masterClrMapping/>
  </p:clrMapOvr>
  <p:transition spd="slow">
    <p:push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2881124"/>
            <a:ext cx="16192500" cy="5243085"/>
          </a:xfrm>
          <a:custGeom>
            <a:avLst/>
            <a:gdLst/>
            <a:ahLst/>
            <a:cxnLst/>
            <a:rect l="l" t="t" r="r" b="b"/>
            <a:pathLst>
              <a:path w="16192500" h="5243085">
                <a:moveTo>
                  <a:pt x="0" y="0"/>
                </a:moveTo>
                <a:lnTo>
                  <a:pt x="16192500" y="0"/>
                </a:lnTo>
                <a:lnTo>
                  <a:pt x="16192500" y="5243085"/>
                </a:lnTo>
                <a:lnTo>
                  <a:pt x="0" y="52430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001"/>
          </a:p>
        </p:txBody>
      </p:sp>
      <p:sp>
        <p:nvSpPr>
          <p:cNvPr id="3" name="TextBox 3"/>
          <p:cNvSpPr txBox="1"/>
          <p:nvPr/>
        </p:nvSpPr>
        <p:spPr>
          <a:xfrm>
            <a:off x="1066800" y="9809813"/>
            <a:ext cx="2055316" cy="264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39"/>
              </a:lnSpc>
              <a:spcBef>
                <a:spcPct val="0"/>
              </a:spcBef>
            </a:pPr>
            <a:r>
              <a:rPr lang="en-US" sz="1599" spc="159">
                <a:solidFill>
                  <a:srgbClr val="000000">
                    <a:alpha val="49804"/>
                  </a:srgbClr>
                </a:solidFill>
                <a:latin typeface="Be Vietnam"/>
                <a:ea typeface="Be Vietnam"/>
                <a:cs typeface="Be Vietnam"/>
                <a:sym typeface="Be Vietnam"/>
              </a:rPr>
              <a:t>LED CUBE NHÓM 5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91903" y="514860"/>
            <a:ext cx="5655112" cy="650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99"/>
              </a:lnSpc>
            </a:pPr>
            <a:r>
              <a:rPr lang="en-US" sz="4999" b="1" spc="-299">
                <a:solidFill>
                  <a:srgbClr val="331B0D"/>
                </a:solidFill>
                <a:latin typeface="K2D Bold"/>
                <a:ea typeface="K2D Bold"/>
                <a:cs typeface="K2D Bold"/>
                <a:sym typeface="K2D Bold"/>
              </a:rPr>
              <a:t>Nguyên Lý Hoạt Động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1116534"/>
            <a:ext cx="8724900" cy="6502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dirty="0">
                <a:solidFill>
                  <a:srgbClr val="331B0D"/>
                </a:solidFill>
                <a:latin typeface="Be Vietnam"/>
                <a:ea typeface="Be Vietnam"/>
                <a:cs typeface="Be Vietnam"/>
                <a:sym typeface="Be Vietnam"/>
              </a:rPr>
              <a:t>2. Quy </a:t>
            </a:r>
            <a:r>
              <a:rPr lang="en-US" sz="3999" dirty="0" err="1">
                <a:solidFill>
                  <a:srgbClr val="331B0D"/>
                </a:solidFill>
                <a:latin typeface="Be Vietnam"/>
                <a:ea typeface="Be Vietnam"/>
                <a:cs typeface="Be Vietnam"/>
                <a:sym typeface="Be Vietnam"/>
              </a:rPr>
              <a:t>trình</a:t>
            </a:r>
            <a:r>
              <a:rPr lang="en-US" sz="3999" dirty="0">
                <a:solidFill>
                  <a:srgbClr val="331B0D"/>
                </a:solidFill>
                <a:latin typeface="Be Vietnam"/>
                <a:ea typeface="Be Vietnam"/>
                <a:cs typeface="Be Vietnam"/>
                <a:sym typeface="Be Vietnam"/>
              </a:rPr>
              <a:t> </a:t>
            </a:r>
            <a:r>
              <a:rPr lang="en-US" sz="3999" dirty="0" err="1">
                <a:solidFill>
                  <a:srgbClr val="331B0D"/>
                </a:solidFill>
                <a:latin typeface="Be Vietnam"/>
                <a:ea typeface="Be Vietnam"/>
                <a:cs typeface="Be Vietnam"/>
                <a:sym typeface="Be Vietnam"/>
              </a:rPr>
              <a:t>vận</a:t>
            </a:r>
            <a:r>
              <a:rPr lang="en-US" sz="3999" dirty="0">
                <a:solidFill>
                  <a:srgbClr val="331B0D"/>
                </a:solidFill>
                <a:latin typeface="Be Vietnam"/>
                <a:ea typeface="Be Vietnam"/>
                <a:cs typeface="Be Vietnam"/>
                <a:sym typeface="Be Vietnam"/>
              </a:rPr>
              <a:t> </a:t>
            </a:r>
            <a:r>
              <a:rPr lang="en-US" sz="3999" dirty="0" err="1">
                <a:solidFill>
                  <a:srgbClr val="331B0D"/>
                </a:solidFill>
                <a:latin typeface="Be Vietnam"/>
                <a:ea typeface="Be Vietnam"/>
                <a:cs typeface="Be Vietnam"/>
                <a:sym typeface="Be Vietnam"/>
              </a:rPr>
              <a:t>hành</a:t>
            </a:r>
            <a:r>
              <a:rPr lang="en-US" sz="3999" dirty="0">
                <a:solidFill>
                  <a:srgbClr val="331B0D"/>
                </a:solidFill>
                <a:latin typeface="Be Vietnam"/>
                <a:ea typeface="Be Vietnam"/>
                <a:cs typeface="Be Vietnam"/>
                <a:sym typeface="Be Vietnam"/>
              </a:rPr>
              <a:t> game con </a:t>
            </a:r>
            <a:r>
              <a:rPr lang="en-US" sz="3999" dirty="0" err="1">
                <a:solidFill>
                  <a:srgbClr val="331B0D"/>
                </a:solidFill>
                <a:latin typeface="Be Vietnam"/>
                <a:ea typeface="Be Vietnam"/>
                <a:cs typeface="Be Vietnam"/>
                <a:sym typeface="Be Vietnam"/>
              </a:rPr>
              <a:t>rắn</a:t>
            </a:r>
            <a:endParaRPr lang="en-US" sz="3999" dirty="0">
              <a:solidFill>
                <a:srgbClr val="331B0D"/>
              </a:solidFill>
              <a:latin typeface="Be Vietnam"/>
              <a:ea typeface="Be Vietnam"/>
              <a:cs typeface="Be Vietnam"/>
              <a:sym typeface="Be Vietnam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4340720" y="8420511"/>
            <a:ext cx="9680079" cy="3334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599"/>
              </a:lnSpc>
              <a:spcBef>
                <a:spcPct val="0"/>
              </a:spcBef>
            </a:pPr>
            <a:r>
              <a:rPr lang="en-US" sz="2599" i="1" spc="259" dirty="0" err="1">
                <a:solidFill>
                  <a:srgbClr val="000000"/>
                </a:solidFill>
                <a:latin typeface="Be Vietnam Italics"/>
                <a:ea typeface="Be Vietnam Italics"/>
                <a:cs typeface="Be Vietnam Italics"/>
                <a:sym typeface="Be Vietnam Italics"/>
              </a:rPr>
              <a:t>Hình</a:t>
            </a:r>
            <a:r>
              <a:rPr lang="en-US" sz="2599" i="1" spc="259" dirty="0">
                <a:solidFill>
                  <a:srgbClr val="000000"/>
                </a:solidFill>
                <a:latin typeface="Be Vietnam Italics"/>
                <a:ea typeface="Be Vietnam Italics"/>
                <a:cs typeface="Be Vietnam Italics"/>
                <a:sym typeface="Be Vietnam Italics"/>
              </a:rPr>
              <a:t> 2: </a:t>
            </a:r>
            <a:r>
              <a:rPr lang="en-US" sz="2599" i="1" spc="259" dirty="0" err="1">
                <a:solidFill>
                  <a:srgbClr val="000000"/>
                </a:solidFill>
                <a:latin typeface="Be Vietnam Italics"/>
                <a:ea typeface="Be Vietnam Italics"/>
                <a:cs typeface="Be Vietnam Italics"/>
                <a:sym typeface="Be Vietnam Italics"/>
              </a:rPr>
              <a:t>Sơ</a:t>
            </a:r>
            <a:r>
              <a:rPr lang="en-US" sz="2599" i="1" spc="259" dirty="0">
                <a:solidFill>
                  <a:srgbClr val="000000"/>
                </a:solidFill>
                <a:latin typeface="Be Vietnam Italics"/>
                <a:ea typeface="Be Vietnam Italics"/>
                <a:cs typeface="Be Vietnam Italics"/>
                <a:sym typeface="Be Vietnam Italics"/>
              </a:rPr>
              <a:t> </a:t>
            </a:r>
            <a:r>
              <a:rPr lang="en-US" sz="2599" i="1" spc="259" dirty="0" err="1">
                <a:solidFill>
                  <a:srgbClr val="000000"/>
                </a:solidFill>
                <a:latin typeface="Be Vietnam Italics"/>
                <a:ea typeface="Be Vietnam Italics"/>
                <a:cs typeface="Be Vietnam Italics"/>
                <a:sym typeface="Be Vietnam Italics"/>
              </a:rPr>
              <a:t>đồ</a:t>
            </a:r>
            <a:r>
              <a:rPr lang="en-US" sz="2599" i="1" spc="259" dirty="0">
                <a:solidFill>
                  <a:srgbClr val="000000"/>
                </a:solidFill>
                <a:latin typeface="Be Vietnam Italics"/>
                <a:ea typeface="Be Vietnam Italics"/>
                <a:cs typeface="Be Vietnam Italics"/>
                <a:sym typeface="Be Vietnam Italics"/>
              </a:rPr>
              <a:t> </a:t>
            </a:r>
            <a:r>
              <a:rPr lang="en-US" sz="2599" i="1" spc="259" dirty="0" err="1">
                <a:solidFill>
                  <a:srgbClr val="000000"/>
                </a:solidFill>
                <a:latin typeface="Be Vietnam Italics"/>
                <a:ea typeface="Be Vietnam Italics"/>
                <a:cs typeface="Be Vietnam Italics"/>
                <a:sym typeface="Be Vietnam Italics"/>
              </a:rPr>
              <a:t>khối</a:t>
            </a:r>
            <a:r>
              <a:rPr lang="en-US" sz="2599" i="1" spc="259" dirty="0">
                <a:solidFill>
                  <a:srgbClr val="000000"/>
                </a:solidFill>
                <a:latin typeface="Be Vietnam Italics"/>
                <a:ea typeface="Be Vietnam Italics"/>
                <a:cs typeface="Be Vietnam Italics"/>
                <a:sym typeface="Be Vietnam Italics"/>
              </a:rPr>
              <a:t> </a:t>
            </a:r>
            <a:r>
              <a:rPr lang="en-US" sz="2599" i="1" spc="259" dirty="0" err="1">
                <a:solidFill>
                  <a:srgbClr val="000000"/>
                </a:solidFill>
                <a:latin typeface="Be Vietnam Italics"/>
                <a:ea typeface="Be Vietnam Italics"/>
                <a:cs typeface="Be Vietnam Italics"/>
                <a:sym typeface="Be Vietnam Italics"/>
              </a:rPr>
              <a:t>quy</a:t>
            </a:r>
            <a:r>
              <a:rPr lang="en-US" sz="2599" i="1" spc="259" dirty="0">
                <a:solidFill>
                  <a:srgbClr val="000000"/>
                </a:solidFill>
                <a:latin typeface="Be Vietnam Italics"/>
                <a:ea typeface="Be Vietnam Italics"/>
                <a:cs typeface="Be Vietnam Italics"/>
                <a:sym typeface="Be Vietnam Italics"/>
              </a:rPr>
              <a:t> </a:t>
            </a:r>
            <a:r>
              <a:rPr lang="en-US" sz="2599" i="1" spc="259" dirty="0" err="1">
                <a:solidFill>
                  <a:srgbClr val="000000"/>
                </a:solidFill>
                <a:latin typeface="Be Vietnam Italics"/>
                <a:ea typeface="Be Vietnam Italics"/>
                <a:cs typeface="Be Vietnam Italics"/>
                <a:sym typeface="Be Vietnam Italics"/>
              </a:rPr>
              <a:t>trình</a:t>
            </a:r>
            <a:r>
              <a:rPr lang="en-US" sz="2599" i="1" spc="259" dirty="0">
                <a:solidFill>
                  <a:srgbClr val="000000"/>
                </a:solidFill>
                <a:latin typeface="Be Vietnam Italics"/>
                <a:ea typeface="Be Vietnam Italics"/>
                <a:cs typeface="Be Vietnam Italics"/>
                <a:sym typeface="Be Vietnam Italics"/>
              </a:rPr>
              <a:t> </a:t>
            </a:r>
            <a:r>
              <a:rPr lang="en-US" sz="2599" i="1" spc="259" dirty="0" err="1">
                <a:solidFill>
                  <a:srgbClr val="000000"/>
                </a:solidFill>
                <a:latin typeface="Be Vietnam Italics"/>
                <a:ea typeface="Be Vietnam Italics"/>
                <a:cs typeface="Be Vietnam Italics"/>
                <a:sym typeface="Be Vietnam Italics"/>
              </a:rPr>
              <a:t>vận</a:t>
            </a:r>
            <a:r>
              <a:rPr lang="en-US" sz="2599" i="1" spc="259" dirty="0">
                <a:solidFill>
                  <a:srgbClr val="000000"/>
                </a:solidFill>
                <a:latin typeface="Be Vietnam Italics"/>
                <a:ea typeface="Be Vietnam Italics"/>
                <a:cs typeface="Be Vietnam Italics"/>
                <a:sym typeface="Be Vietnam Italics"/>
              </a:rPr>
              <a:t> </a:t>
            </a:r>
            <a:r>
              <a:rPr lang="en-US" sz="2599" i="1" spc="259" dirty="0" err="1">
                <a:solidFill>
                  <a:srgbClr val="000000"/>
                </a:solidFill>
                <a:latin typeface="Be Vietnam Italics"/>
                <a:ea typeface="Be Vietnam Italics"/>
                <a:cs typeface="Be Vietnam Italics"/>
                <a:sym typeface="Be Vietnam Italics"/>
              </a:rPr>
              <a:t>hành</a:t>
            </a:r>
            <a:r>
              <a:rPr lang="en-US" sz="2599" i="1" spc="259" dirty="0">
                <a:solidFill>
                  <a:srgbClr val="000000"/>
                </a:solidFill>
                <a:latin typeface="Be Vietnam Italics"/>
                <a:ea typeface="Be Vietnam Italics"/>
                <a:cs typeface="Be Vietnam Italics"/>
                <a:sym typeface="Be Vietnam Italics"/>
              </a:rPr>
              <a:t> game con </a:t>
            </a:r>
            <a:r>
              <a:rPr lang="en-US" sz="2599" i="1" spc="259" dirty="0" err="1">
                <a:solidFill>
                  <a:srgbClr val="000000"/>
                </a:solidFill>
                <a:latin typeface="Be Vietnam Italics"/>
                <a:ea typeface="Be Vietnam Italics"/>
                <a:cs typeface="Be Vietnam Italics"/>
                <a:sym typeface="Be Vietnam Italics"/>
              </a:rPr>
              <a:t>rắn</a:t>
            </a:r>
            <a:endParaRPr lang="en-US" sz="2599" i="1" spc="259" dirty="0">
              <a:solidFill>
                <a:srgbClr val="000000"/>
              </a:solidFill>
              <a:latin typeface="Be Vietnam Italics"/>
              <a:ea typeface="Be Vietnam Italics"/>
              <a:cs typeface="Be Vietnam Italics"/>
              <a:sym typeface="Be Vietnam Italics"/>
            </a:endParaRPr>
          </a:p>
        </p:txBody>
      </p:sp>
    </p:spTree>
  </p:cSld>
  <p:clrMapOvr>
    <a:masterClrMapping/>
  </p:clrMapOvr>
  <p:transition spd="slow">
    <p:push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974812" y="1824561"/>
            <a:ext cx="14338377" cy="8249413"/>
          </a:xfrm>
          <a:custGeom>
            <a:avLst/>
            <a:gdLst/>
            <a:ahLst/>
            <a:cxnLst/>
            <a:rect l="l" t="t" r="r" b="b"/>
            <a:pathLst>
              <a:path w="14338377" h="8249413">
                <a:moveTo>
                  <a:pt x="0" y="0"/>
                </a:moveTo>
                <a:lnTo>
                  <a:pt x="14338376" y="0"/>
                </a:lnTo>
                <a:lnTo>
                  <a:pt x="14338376" y="8249413"/>
                </a:lnTo>
                <a:lnTo>
                  <a:pt x="0" y="824941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01"/>
            </a:stretch>
          </a:blipFill>
        </p:spPr>
        <p:txBody>
          <a:bodyPr/>
          <a:lstStyle/>
          <a:p>
            <a:endParaRPr lang="en-001"/>
          </a:p>
        </p:txBody>
      </p:sp>
      <p:sp>
        <p:nvSpPr>
          <p:cNvPr id="3" name="TextBox 3"/>
          <p:cNvSpPr txBox="1"/>
          <p:nvPr/>
        </p:nvSpPr>
        <p:spPr>
          <a:xfrm>
            <a:off x="1066800" y="9809813"/>
            <a:ext cx="2055316" cy="264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39"/>
              </a:lnSpc>
              <a:spcBef>
                <a:spcPct val="0"/>
              </a:spcBef>
            </a:pPr>
            <a:r>
              <a:rPr lang="en-US" sz="1599" spc="159">
                <a:solidFill>
                  <a:srgbClr val="000000">
                    <a:alpha val="49804"/>
                  </a:srgbClr>
                </a:solidFill>
                <a:latin typeface="Be Vietnam"/>
                <a:ea typeface="Be Vietnam"/>
                <a:cs typeface="Be Vietnam"/>
                <a:sym typeface="Be Vietnam"/>
              </a:rPr>
              <a:t>LED CUBE NHÓM 5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1116534"/>
            <a:ext cx="8115300" cy="6502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dirty="0">
                <a:solidFill>
                  <a:srgbClr val="331B0D"/>
                </a:solidFill>
                <a:latin typeface="Be Vietnam"/>
                <a:ea typeface="Be Vietnam"/>
                <a:cs typeface="Be Vietnam"/>
                <a:sym typeface="Be Vietnam"/>
              </a:rPr>
              <a:t>3. </a:t>
            </a:r>
            <a:r>
              <a:rPr lang="en-US" sz="3999" dirty="0" err="1">
                <a:solidFill>
                  <a:srgbClr val="331B0D"/>
                </a:solidFill>
                <a:latin typeface="Be Vietnam"/>
                <a:ea typeface="Be Vietnam"/>
                <a:cs typeface="Be Vietnam"/>
                <a:sym typeface="Be Vietnam"/>
              </a:rPr>
              <a:t>Thuật</a:t>
            </a:r>
            <a:r>
              <a:rPr lang="en-US" sz="3999" dirty="0">
                <a:solidFill>
                  <a:srgbClr val="331B0D"/>
                </a:solidFill>
                <a:latin typeface="Be Vietnam"/>
                <a:ea typeface="Be Vietnam"/>
                <a:cs typeface="Be Vietnam"/>
                <a:sym typeface="Be Vietnam"/>
              </a:rPr>
              <a:t> </a:t>
            </a:r>
            <a:r>
              <a:rPr lang="en-US" sz="3999" dirty="0" err="1">
                <a:solidFill>
                  <a:srgbClr val="331B0D"/>
                </a:solidFill>
                <a:latin typeface="Be Vietnam"/>
                <a:ea typeface="Be Vietnam"/>
                <a:cs typeface="Be Vietnam"/>
                <a:sym typeface="Be Vietnam"/>
              </a:rPr>
              <a:t>toán</a:t>
            </a:r>
            <a:r>
              <a:rPr lang="en-US" sz="3999" dirty="0">
                <a:solidFill>
                  <a:srgbClr val="331B0D"/>
                </a:solidFill>
                <a:latin typeface="Be Vietnam"/>
                <a:ea typeface="Be Vietnam"/>
                <a:cs typeface="Be Vietnam"/>
                <a:sym typeface="Be Vietnam"/>
              </a:rPr>
              <a:t> </a:t>
            </a:r>
            <a:r>
              <a:rPr lang="en-US" sz="3999" dirty="0" err="1">
                <a:solidFill>
                  <a:srgbClr val="331B0D"/>
                </a:solidFill>
                <a:latin typeface="Be Vietnam"/>
                <a:ea typeface="Be Vietnam"/>
                <a:cs typeface="Be Vietnam"/>
                <a:sym typeface="Be Vietnam"/>
              </a:rPr>
              <a:t>điều</a:t>
            </a:r>
            <a:r>
              <a:rPr lang="en-US" sz="3999" dirty="0">
                <a:solidFill>
                  <a:srgbClr val="331B0D"/>
                </a:solidFill>
                <a:latin typeface="Be Vietnam"/>
                <a:ea typeface="Be Vietnam"/>
                <a:cs typeface="Be Vietnam"/>
                <a:sym typeface="Be Vietnam"/>
              </a:rPr>
              <a:t> </a:t>
            </a:r>
            <a:r>
              <a:rPr lang="en-US" sz="3999" dirty="0" err="1">
                <a:solidFill>
                  <a:srgbClr val="331B0D"/>
                </a:solidFill>
                <a:latin typeface="Be Vietnam"/>
                <a:ea typeface="Be Vietnam"/>
                <a:cs typeface="Be Vietnam"/>
                <a:sym typeface="Be Vietnam"/>
              </a:rPr>
              <a:t>khiển</a:t>
            </a:r>
            <a:r>
              <a:rPr lang="en-US" sz="3999" dirty="0">
                <a:solidFill>
                  <a:srgbClr val="331B0D"/>
                </a:solidFill>
                <a:latin typeface="Be Vietnam"/>
                <a:ea typeface="Be Vietnam"/>
                <a:cs typeface="Be Vietnam"/>
                <a:sym typeface="Be Vietnam"/>
              </a:rPr>
              <a:t> con </a:t>
            </a:r>
            <a:r>
              <a:rPr lang="en-US" sz="3999" dirty="0" err="1">
                <a:solidFill>
                  <a:srgbClr val="331B0D"/>
                </a:solidFill>
                <a:latin typeface="Be Vietnam"/>
                <a:ea typeface="Be Vietnam"/>
                <a:cs typeface="Be Vietnam"/>
                <a:sym typeface="Be Vietnam"/>
              </a:rPr>
              <a:t>rắn</a:t>
            </a:r>
            <a:endParaRPr lang="en-US" sz="3999" dirty="0">
              <a:solidFill>
                <a:srgbClr val="331B0D"/>
              </a:solidFill>
              <a:latin typeface="Be Vietnam"/>
              <a:ea typeface="Be Vietnam"/>
              <a:cs typeface="Be Vietnam"/>
              <a:sym typeface="Be Vietnam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391903" y="514860"/>
            <a:ext cx="5655112" cy="650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99"/>
              </a:lnSpc>
            </a:pPr>
            <a:r>
              <a:rPr lang="en-US" sz="4999" b="1" spc="-299">
                <a:solidFill>
                  <a:srgbClr val="331B0D"/>
                </a:solidFill>
                <a:latin typeface="K2D Bold"/>
                <a:ea typeface="K2D Bold"/>
                <a:cs typeface="K2D Bold"/>
                <a:sym typeface="K2D Bold"/>
              </a:rPr>
              <a:t>Nguyên Lý Hoạt Động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086600" y="9574228"/>
            <a:ext cx="9226589" cy="3334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599"/>
              </a:lnSpc>
              <a:spcBef>
                <a:spcPct val="0"/>
              </a:spcBef>
            </a:pPr>
            <a:r>
              <a:rPr lang="en-US" sz="2599" i="1" spc="259" dirty="0" err="1">
                <a:solidFill>
                  <a:srgbClr val="000000"/>
                </a:solidFill>
                <a:latin typeface="Be Vietnam Italics"/>
                <a:ea typeface="Be Vietnam Italics"/>
                <a:cs typeface="Be Vietnam Italics"/>
                <a:sym typeface="Be Vietnam Italics"/>
              </a:rPr>
              <a:t>Hình</a:t>
            </a:r>
            <a:r>
              <a:rPr lang="en-US" sz="2599" i="1" spc="259" dirty="0">
                <a:solidFill>
                  <a:srgbClr val="000000"/>
                </a:solidFill>
                <a:latin typeface="Be Vietnam Italics"/>
                <a:ea typeface="Be Vietnam Italics"/>
                <a:cs typeface="Be Vietnam Italics"/>
                <a:sym typeface="Be Vietnam Italics"/>
              </a:rPr>
              <a:t> 3: </a:t>
            </a:r>
            <a:r>
              <a:rPr lang="en-US" sz="2599" i="1" spc="259" dirty="0" err="1">
                <a:solidFill>
                  <a:srgbClr val="000000"/>
                </a:solidFill>
                <a:latin typeface="Be Vietnam Italics"/>
                <a:ea typeface="Be Vietnam Italics"/>
                <a:cs typeface="Be Vietnam Italics"/>
                <a:sym typeface="Be Vietnam Italics"/>
              </a:rPr>
              <a:t>Sơ</a:t>
            </a:r>
            <a:r>
              <a:rPr lang="en-US" sz="2599" i="1" spc="259" dirty="0">
                <a:solidFill>
                  <a:srgbClr val="000000"/>
                </a:solidFill>
                <a:latin typeface="Be Vietnam Italics"/>
                <a:ea typeface="Be Vietnam Italics"/>
                <a:cs typeface="Be Vietnam Italics"/>
                <a:sym typeface="Be Vietnam Italics"/>
              </a:rPr>
              <a:t> </a:t>
            </a:r>
            <a:r>
              <a:rPr lang="en-US" sz="2599" i="1" spc="259" dirty="0" err="1">
                <a:solidFill>
                  <a:srgbClr val="000000"/>
                </a:solidFill>
                <a:latin typeface="Be Vietnam Italics"/>
                <a:ea typeface="Be Vietnam Italics"/>
                <a:cs typeface="Be Vietnam Italics"/>
                <a:sym typeface="Be Vietnam Italics"/>
              </a:rPr>
              <a:t>đồ</a:t>
            </a:r>
            <a:r>
              <a:rPr lang="en-US" sz="2599" i="1" spc="259" dirty="0">
                <a:solidFill>
                  <a:srgbClr val="000000"/>
                </a:solidFill>
                <a:latin typeface="Be Vietnam Italics"/>
                <a:ea typeface="Be Vietnam Italics"/>
                <a:cs typeface="Be Vietnam Italics"/>
                <a:sym typeface="Be Vietnam Italics"/>
              </a:rPr>
              <a:t> </a:t>
            </a:r>
            <a:r>
              <a:rPr lang="en-US" sz="2599" i="1" spc="259" dirty="0" err="1">
                <a:solidFill>
                  <a:srgbClr val="000000"/>
                </a:solidFill>
                <a:latin typeface="Be Vietnam Italics"/>
                <a:ea typeface="Be Vietnam Italics"/>
                <a:cs typeface="Be Vietnam Italics"/>
                <a:sym typeface="Be Vietnam Italics"/>
              </a:rPr>
              <a:t>khối</a:t>
            </a:r>
            <a:r>
              <a:rPr lang="en-US" sz="2599" i="1" spc="259" dirty="0">
                <a:solidFill>
                  <a:srgbClr val="000000"/>
                </a:solidFill>
                <a:latin typeface="Be Vietnam Italics"/>
                <a:ea typeface="Be Vietnam Italics"/>
                <a:cs typeface="Be Vietnam Italics"/>
                <a:sym typeface="Be Vietnam Italics"/>
              </a:rPr>
              <a:t> </a:t>
            </a:r>
            <a:r>
              <a:rPr lang="en-US" sz="2599" i="1" spc="259" dirty="0" err="1">
                <a:solidFill>
                  <a:srgbClr val="000000"/>
                </a:solidFill>
                <a:latin typeface="Be Vietnam Italics"/>
                <a:ea typeface="Be Vietnam Italics"/>
                <a:cs typeface="Be Vietnam Italics"/>
                <a:sym typeface="Be Vietnam Italics"/>
              </a:rPr>
              <a:t>thuật</a:t>
            </a:r>
            <a:r>
              <a:rPr lang="en-US" sz="2599" i="1" spc="259" dirty="0">
                <a:solidFill>
                  <a:srgbClr val="000000"/>
                </a:solidFill>
                <a:latin typeface="Be Vietnam Italics"/>
                <a:ea typeface="Be Vietnam Italics"/>
                <a:cs typeface="Be Vietnam Italics"/>
                <a:sym typeface="Be Vietnam Italics"/>
              </a:rPr>
              <a:t> </a:t>
            </a:r>
            <a:r>
              <a:rPr lang="en-US" sz="2599" i="1" spc="259" dirty="0" err="1">
                <a:solidFill>
                  <a:srgbClr val="000000"/>
                </a:solidFill>
                <a:latin typeface="Be Vietnam Italics"/>
                <a:ea typeface="Be Vietnam Italics"/>
                <a:cs typeface="Be Vietnam Italics"/>
                <a:sym typeface="Be Vietnam Italics"/>
              </a:rPr>
              <a:t>toán</a:t>
            </a:r>
            <a:r>
              <a:rPr lang="en-US" sz="2599" i="1" spc="259" dirty="0">
                <a:solidFill>
                  <a:srgbClr val="000000"/>
                </a:solidFill>
                <a:latin typeface="Be Vietnam Italics"/>
                <a:ea typeface="Be Vietnam Italics"/>
                <a:cs typeface="Be Vietnam Italics"/>
                <a:sym typeface="Be Vietnam Italics"/>
              </a:rPr>
              <a:t> </a:t>
            </a:r>
            <a:r>
              <a:rPr lang="en-US" sz="2599" i="1" spc="259" dirty="0" err="1">
                <a:solidFill>
                  <a:srgbClr val="000000"/>
                </a:solidFill>
                <a:latin typeface="Be Vietnam Italics"/>
                <a:ea typeface="Be Vietnam Italics"/>
                <a:cs typeface="Be Vietnam Italics"/>
                <a:sym typeface="Be Vietnam Italics"/>
              </a:rPr>
              <a:t>điều</a:t>
            </a:r>
            <a:r>
              <a:rPr lang="en-US" sz="2599" i="1" spc="259" dirty="0">
                <a:solidFill>
                  <a:srgbClr val="000000"/>
                </a:solidFill>
                <a:latin typeface="Be Vietnam Italics"/>
                <a:ea typeface="Be Vietnam Italics"/>
                <a:cs typeface="Be Vietnam Italics"/>
                <a:sym typeface="Be Vietnam Italics"/>
              </a:rPr>
              <a:t> </a:t>
            </a:r>
            <a:r>
              <a:rPr lang="en-US" sz="2599" i="1" spc="259" dirty="0" err="1">
                <a:solidFill>
                  <a:srgbClr val="000000"/>
                </a:solidFill>
                <a:latin typeface="Be Vietnam Italics"/>
                <a:ea typeface="Be Vietnam Italics"/>
                <a:cs typeface="Be Vietnam Italics"/>
                <a:sym typeface="Be Vietnam Italics"/>
              </a:rPr>
              <a:t>khiển</a:t>
            </a:r>
            <a:r>
              <a:rPr lang="en-US" sz="2599" i="1" spc="259" dirty="0">
                <a:solidFill>
                  <a:srgbClr val="000000"/>
                </a:solidFill>
                <a:latin typeface="Be Vietnam Italics"/>
                <a:ea typeface="Be Vietnam Italics"/>
                <a:cs typeface="Be Vietnam Italics"/>
                <a:sym typeface="Be Vietnam Italics"/>
              </a:rPr>
              <a:t> con </a:t>
            </a:r>
            <a:r>
              <a:rPr lang="en-US" sz="2599" i="1" spc="259" dirty="0" err="1">
                <a:solidFill>
                  <a:srgbClr val="000000"/>
                </a:solidFill>
                <a:latin typeface="Be Vietnam Italics"/>
                <a:ea typeface="Be Vietnam Italics"/>
                <a:cs typeface="Be Vietnam Italics"/>
                <a:sym typeface="Be Vietnam Italics"/>
              </a:rPr>
              <a:t>rắn</a:t>
            </a:r>
            <a:endParaRPr lang="en-US" sz="2599" i="1" spc="259" dirty="0">
              <a:solidFill>
                <a:srgbClr val="000000"/>
              </a:solidFill>
              <a:latin typeface="Be Vietnam Italics"/>
              <a:ea typeface="Be Vietnam Italics"/>
              <a:cs typeface="Be Vietnam Italics"/>
              <a:sym typeface="Be Vietnam Italics"/>
            </a:endParaRPr>
          </a:p>
        </p:txBody>
      </p:sp>
    </p:spTree>
  </p:cSld>
  <p:clrMapOvr>
    <a:masterClrMapping/>
  </p:clrMapOvr>
  <p:transition spd="slow">
    <p:push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492111" y="3046015"/>
            <a:ext cx="13509889" cy="22025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7975"/>
              </a:lnSpc>
              <a:spcBef>
                <a:spcPct val="0"/>
              </a:spcBef>
            </a:pPr>
            <a:r>
              <a:rPr lang="en-US" sz="12839" b="1" dirty="0">
                <a:solidFill>
                  <a:srgbClr val="000000"/>
                </a:solidFill>
                <a:latin typeface="Dancing Script Bold"/>
                <a:ea typeface="Dancing Script Bold"/>
                <a:cs typeface="Dancing Script Bold"/>
                <a:sym typeface="Dancing Script Bold"/>
              </a:rPr>
              <a:t>Nguyên Lý </a:t>
            </a:r>
            <a:r>
              <a:rPr lang="en-US" sz="12839" b="1" dirty="0" err="1">
                <a:solidFill>
                  <a:srgbClr val="000000"/>
                </a:solidFill>
                <a:latin typeface="Dancing Script Bold"/>
                <a:ea typeface="Dancing Script Bold"/>
                <a:cs typeface="Dancing Script Bold"/>
                <a:sym typeface="Dancing Script Bold"/>
              </a:rPr>
              <a:t>Hoạt</a:t>
            </a:r>
            <a:r>
              <a:rPr lang="en-US" sz="12839" b="1" dirty="0">
                <a:solidFill>
                  <a:srgbClr val="000000"/>
                </a:solidFill>
                <a:latin typeface="Dancing Script Bold"/>
                <a:ea typeface="Dancing Script Bold"/>
                <a:cs typeface="Dancing Script Bold"/>
                <a:sym typeface="Dancing Script Bold"/>
              </a:rPr>
              <a:t> </a:t>
            </a:r>
            <a:r>
              <a:rPr lang="en-US" sz="12839" b="1" dirty="0" err="1">
                <a:solidFill>
                  <a:srgbClr val="000000"/>
                </a:solidFill>
                <a:latin typeface="Dancing Script Bold"/>
                <a:ea typeface="Dancing Script Bold"/>
                <a:cs typeface="Dancing Script Bold"/>
                <a:sym typeface="Dancing Script Bold"/>
              </a:rPr>
              <a:t>Động</a:t>
            </a:r>
            <a:endParaRPr lang="en-US" sz="12839" b="1" dirty="0">
              <a:solidFill>
                <a:srgbClr val="000000"/>
              </a:solidFill>
              <a:latin typeface="Dancing Script Bold"/>
              <a:ea typeface="Dancing Script Bold"/>
              <a:cs typeface="Dancing Script Bold"/>
              <a:sym typeface="Dancing Script Bold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066800" y="9809813"/>
            <a:ext cx="2055316" cy="264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39"/>
              </a:lnSpc>
              <a:spcBef>
                <a:spcPct val="0"/>
              </a:spcBef>
            </a:pPr>
            <a:r>
              <a:rPr lang="en-US" sz="1599" spc="159">
                <a:solidFill>
                  <a:srgbClr val="000000">
                    <a:alpha val="49804"/>
                  </a:srgbClr>
                </a:solidFill>
                <a:latin typeface="Be Vietnam"/>
                <a:ea typeface="Be Vietnam"/>
                <a:cs typeface="Be Vietnam"/>
                <a:sym typeface="Be Vietnam"/>
              </a:rPr>
              <a:t>LED CUBE NHÓM 5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723730" y="5687564"/>
            <a:ext cx="8992270" cy="11017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099"/>
              </a:lnSpc>
              <a:spcBef>
                <a:spcPct val="0"/>
              </a:spcBef>
            </a:pPr>
            <a:r>
              <a:rPr lang="en-US" sz="6499" dirty="0">
                <a:solidFill>
                  <a:srgbClr val="000000"/>
                </a:solidFill>
                <a:latin typeface="K2D"/>
                <a:ea typeface="K2D"/>
                <a:cs typeface="K2D"/>
                <a:sym typeface="K2D"/>
              </a:rPr>
              <a:t>- </a:t>
            </a:r>
            <a:r>
              <a:rPr lang="en-US" sz="6499" dirty="0" err="1">
                <a:solidFill>
                  <a:srgbClr val="000000"/>
                </a:solidFill>
                <a:latin typeface="K2D"/>
                <a:ea typeface="K2D"/>
                <a:cs typeface="K2D"/>
                <a:sym typeface="K2D"/>
              </a:rPr>
              <a:t>Cách</a:t>
            </a:r>
            <a:r>
              <a:rPr lang="en-US" sz="6499" dirty="0">
                <a:solidFill>
                  <a:srgbClr val="000000"/>
                </a:solidFill>
                <a:latin typeface="K2D"/>
                <a:ea typeface="K2D"/>
                <a:cs typeface="K2D"/>
                <a:sym typeface="K2D"/>
              </a:rPr>
              <a:t> </a:t>
            </a:r>
            <a:r>
              <a:rPr lang="en-US" sz="6499" dirty="0" err="1">
                <a:solidFill>
                  <a:srgbClr val="000000"/>
                </a:solidFill>
                <a:latin typeface="K2D"/>
                <a:ea typeface="K2D"/>
                <a:cs typeface="K2D"/>
                <a:sym typeface="K2D"/>
              </a:rPr>
              <a:t>điều</a:t>
            </a:r>
            <a:r>
              <a:rPr lang="en-US" sz="6499" dirty="0">
                <a:solidFill>
                  <a:srgbClr val="000000"/>
                </a:solidFill>
                <a:latin typeface="K2D"/>
                <a:ea typeface="K2D"/>
                <a:cs typeface="K2D"/>
                <a:sym typeface="K2D"/>
              </a:rPr>
              <a:t> </a:t>
            </a:r>
            <a:r>
              <a:rPr lang="en-US" sz="6499" dirty="0" err="1">
                <a:solidFill>
                  <a:srgbClr val="000000"/>
                </a:solidFill>
                <a:latin typeface="K2D"/>
                <a:ea typeface="K2D"/>
                <a:cs typeface="K2D"/>
                <a:sym typeface="K2D"/>
              </a:rPr>
              <a:t>khiển</a:t>
            </a:r>
            <a:r>
              <a:rPr lang="en-US" sz="6499" dirty="0">
                <a:solidFill>
                  <a:srgbClr val="000000"/>
                </a:solidFill>
                <a:latin typeface="K2D"/>
                <a:ea typeface="K2D"/>
                <a:cs typeface="K2D"/>
                <a:sym typeface="K2D"/>
              </a:rPr>
              <a:t> LED -</a:t>
            </a:r>
          </a:p>
        </p:txBody>
      </p:sp>
    </p:spTree>
  </p:cSld>
  <p:clrMapOvr>
    <a:masterClrMapping/>
  </p:clrMapOvr>
  <p:transition spd="slow">
    <p:push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11088" y="1997333"/>
            <a:ext cx="16194212" cy="7942514"/>
            <a:chOff x="0" y="0"/>
            <a:chExt cx="21592282" cy="1059001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395085" cy="3726540"/>
            </a:xfrm>
            <a:custGeom>
              <a:avLst/>
              <a:gdLst/>
              <a:ahLst/>
              <a:cxnLst/>
              <a:rect l="l" t="t" r="r" b="b"/>
              <a:pathLst>
                <a:path w="10395085" h="3726540">
                  <a:moveTo>
                    <a:pt x="0" y="0"/>
                  </a:moveTo>
                  <a:lnTo>
                    <a:pt x="10395085" y="0"/>
                  </a:lnTo>
                  <a:lnTo>
                    <a:pt x="10395085" y="3726540"/>
                  </a:lnTo>
                  <a:lnTo>
                    <a:pt x="0" y="37265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001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2516926" y="3650340"/>
              <a:ext cx="6708318" cy="880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599"/>
                </a:lnSpc>
              </a:pPr>
              <a:r>
                <a:rPr lang="en-US" sz="3999">
                  <a:solidFill>
                    <a:srgbClr val="331B0D"/>
                  </a:solidFill>
                  <a:latin typeface="Be Vietnam"/>
                  <a:ea typeface="Be Vietnam"/>
                  <a:cs typeface="Be Vietnam"/>
                  <a:sym typeface="Be Vietnam"/>
                </a:rPr>
                <a:t>Mạch điện 1 con LED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3826867" y="9913743"/>
              <a:ext cx="7765415" cy="6762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3000" b="1">
                  <a:solidFill>
                    <a:srgbClr val="331B0D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Nguồn ảnh: Wiki CCC Göttingen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0160679" y="1997333"/>
            <a:ext cx="7098621" cy="3398155"/>
            <a:chOff x="0" y="0"/>
            <a:chExt cx="9464828" cy="453087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9464828" cy="3726540"/>
            </a:xfrm>
            <a:custGeom>
              <a:avLst/>
              <a:gdLst/>
              <a:ahLst/>
              <a:cxnLst/>
              <a:rect l="l" t="t" r="r" b="b"/>
              <a:pathLst>
                <a:path w="9464828" h="3726540">
                  <a:moveTo>
                    <a:pt x="0" y="0"/>
                  </a:moveTo>
                  <a:lnTo>
                    <a:pt x="9464828" y="0"/>
                  </a:lnTo>
                  <a:lnTo>
                    <a:pt x="9464828" y="3726540"/>
                  </a:lnTo>
                  <a:lnTo>
                    <a:pt x="0" y="37265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80185"/>
              </a:stretch>
            </a:blipFill>
          </p:spPr>
          <p:txBody>
            <a:bodyPr/>
            <a:lstStyle/>
            <a:p>
              <a:endParaRPr lang="en-001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887217" y="3650340"/>
              <a:ext cx="5690394" cy="880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599"/>
                </a:lnSpc>
              </a:pPr>
              <a:r>
                <a:rPr lang="en-US" sz="3999">
                  <a:solidFill>
                    <a:srgbClr val="331B0D"/>
                  </a:solidFill>
                  <a:latin typeface="Be Vietnam"/>
                  <a:ea typeface="Be Vietnam"/>
                  <a:cs typeface="Be Vietnam"/>
                  <a:sym typeface="Be Vietnam"/>
                </a:rPr>
                <a:t>Thêm công tắc :D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4026710" y="5756226"/>
            <a:ext cx="10961383" cy="3525073"/>
            <a:chOff x="0" y="0"/>
            <a:chExt cx="14615177" cy="470009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4615177" cy="3540163"/>
            </a:xfrm>
            <a:custGeom>
              <a:avLst/>
              <a:gdLst/>
              <a:ahLst/>
              <a:cxnLst/>
              <a:rect l="l" t="t" r="r" b="b"/>
              <a:pathLst>
                <a:path w="14615177" h="3540163">
                  <a:moveTo>
                    <a:pt x="0" y="0"/>
                  </a:moveTo>
                  <a:lnTo>
                    <a:pt x="14615177" y="0"/>
                  </a:lnTo>
                  <a:lnTo>
                    <a:pt x="14615177" y="3540163"/>
                  </a:lnTo>
                  <a:lnTo>
                    <a:pt x="0" y="35401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92882"/>
              </a:stretch>
            </a:blipFill>
          </p:spPr>
          <p:txBody>
            <a:bodyPr/>
            <a:lstStyle/>
            <a:p>
              <a:endParaRPr lang="en-001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267639" y="3819563"/>
              <a:ext cx="4170680" cy="880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599"/>
                </a:lnSpc>
              </a:pPr>
              <a:r>
                <a:rPr lang="en-US" sz="3999">
                  <a:solidFill>
                    <a:srgbClr val="331B0D"/>
                  </a:solidFill>
                  <a:latin typeface="Be Vietnam"/>
                  <a:ea typeface="Be Vietnam"/>
                  <a:cs typeface="Be Vietnam"/>
                  <a:sym typeface="Be Vietnam"/>
                </a:rPr>
                <a:t>Công tắc mở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908753" y="3819563"/>
              <a:ext cx="4770755" cy="880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599"/>
                </a:lnSpc>
              </a:pPr>
              <a:r>
                <a:rPr lang="en-US" sz="3999">
                  <a:solidFill>
                    <a:srgbClr val="331B0D"/>
                  </a:solidFill>
                  <a:latin typeface="Be Vietnam"/>
                  <a:ea typeface="Be Vietnam"/>
                  <a:cs typeface="Be Vietnam"/>
                  <a:sym typeface="Be Vietnam"/>
                </a:rPr>
                <a:t>Công tắc đóng</a:t>
              </a:r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066800" y="9809813"/>
            <a:ext cx="2055316" cy="264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39"/>
              </a:lnSpc>
              <a:spcBef>
                <a:spcPct val="0"/>
              </a:spcBef>
            </a:pPr>
            <a:r>
              <a:rPr lang="en-US" sz="1599" spc="159">
                <a:solidFill>
                  <a:srgbClr val="000000">
                    <a:alpha val="49804"/>
                  </a:srgbClr>
                </a:solidFill>
                <a:latin typeface="Be Vietnam"/>
                <a:ea typeface="Be Vietnam"/>
                <a:cs typeface="Be Vietnam"/>
                <a:sym typeface="Be Vietnam"/>
              </a:rPr>
              <a:t>LED CUBE NHÓM 5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91903" y="514860"/>
            <a:ext cx="5655112" cy="650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99"/>
              </a:lnSpc>
            </a:pPr>
            <a:r>
              <a:rPr lang="en-US" sz="4999" b="1" spc="-299">
                <a:solidFill>
                  <a:srgbClr val="331B0D"/>
                </a:solidFill>
                <a:latin typeface="K2D Bold"/>
                <a:ea typeface="K2D Bold"/>
                <a:cs typeface="K2D Bold"/>
                <a:sym typeface="K2D Bold"/>
              </a:rPr>
              <a:t>Nguyên Lý Hoạt Động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28700" y="1116534"/>
            <a:ext cx="5655112" cy="6502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dirty="0">
                <a:solidFill>
                  <a:srgbClr val="331B0D"/>
                </a:solidFill>
                <a:latin typeface="Be Vietnam"/>
                <a:ea typeface="Be Vietnam"/>
                <a:cs typeface="Be Vietnam"/>
                <a:sym typeface="Be Vietnam"/>
              </a:rPr>
              <a:t>4.Thuật </a:t>
            </a:r>
            <a:r>
              <a:rPr lang="en-US" sz="3999" dirty="0" err="1">
                <a:solidFill>
                  <a:srgbClr val="331B0D"/>
                </a:solidFill>
                <a:latin typeface="Be Vietnam"/>
                <a:ea typeface="Be Vietnam"/>
                <a:cs typeface="Be Vietnam"/>
                <a:sym typeface="Be Vietnam"/>
              </a:rPr>
              <a:t>toán</a:t>
            </a:r>
            <a:r>
              <a:rPr lang="en-US" sz="3999" dirty="0">
                <a:solidFill>
                  <a:srgbClr val="331B0D"/>
                </a:solidFill>
                <a:latin typeface="Be Vietnam"/>
                <a:ea typeface="Be Vietnam"/>
                <a:cs typeface="Be Vietnam"/>
                <a:sym typeface="Be Vietnam"/>
              </a:rPr>
              <a:t> </a:t>
            </a:r>
            <a:r>
              <a:rPr lang="en-US" sz="3999" dirty="0" err="1">
                <a:solidFill>
                  <a:srgbClr val="331B0D"/>
                </a:solidFill>
                <a:latin typeface="Be Vietnam"/>
                <a:ea typeface="Be Vietnam"/>
                <a:cs typeface="Be Vietnam"/>
                <a:sym typeface="Be Vietnam"/>
              </a:rPr>
              <a:t>quét</a:t>
            </a:r>
            <a:r>
              <a:rPr lang="en-US" sz="3999" dirty="0">
                <a:solidFill>
                  <a:srgbClr val="331B0D"/>
                </a:solidFill>
                <a:latin typeface="Be Vietnam"/>
                <a:ea typeface="Be Vietnam"/>
                <a:cs typeface="Be Vietnam"/>
                <a:sym typeface="Be Vietnam"/>
              </a:rPr>
              <a:t> LED</a:t>
            </a:r>
          </a:p>
        </p:txBody>
      </p:sp>
    </p:spTree>
  </p:cSld>
  <p:clrMapOvr>
    <a:masterClrMapping/>
  </p:clrMapOvr>
  <p:transition spd="slow">
    <p:push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91903" y="514860"/>
            <a:ext cx="5655112" cy="650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99"/>
              </a:lnSpc>
            </a:pPr>
            <a:r>
              <a:rPr lang="en-US" sz="4999" b="1" spc="-299">
                <a:solidFill>
                  <a:srgbClr val="331B0D"/>
                </a:solidFill>
                <a:latin typeface="K2D Bold"/>
                <a:ea typeface="K2D Bold"/>
                <a:cs typeface="K2D Bold"/>
                <a:sym typeface="K2D Bold"/>
              </a:rPr>
              <a:t>Nguyên Lý Hoạt Động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028700" y="2024663"/>
            <a:ext cx="4790903" cy="7515349"/>
            <a:chOff x="0" y="-66675"/>
            <a:chExt cx="6387870" cy="10020466"/>
          </a:xfrm>
        </p:grpSpPr>
        <p:sp>
          <p:nvSpPr>
            <p:cNvPr id="4" name="Freeform 4"/>
            <p:cNvSpPr/>
            <p:nvPr/>
          </p:nvSpPr>
          <p:spPr>
            <a:xfrm>
              <a:off x="527703" y="4229811"/>
              <a:ext cx="5860167" cy="4957746"/>
            </a:xfrm>
            <a:custGeom>
              <a:avLst/>
              <a:gdLst/>
              <a:ahLst/>
              <a:cxnLst/>
              <a:rect l="l" t="t" r="r" b="b"/>
              <a:pathLst>
                <a:path w="5860167" h="4957746">
                  <a:moveTo>
                    <a:pt x="0" y="0"/>
                  </a:moveTo>
                  <a:lnTo>
                    <a:pt x="5860167" y="0"/>
                  </a:lnTo>
                  <a:lnTo>
                    <a:pt x="5860167" y="4957746"/>
                  </a:lnTo>
                  <a:lnTo>
                    <a:pt x="0" y="49577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001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230048" y="9180150"/>
              <a:ext cx="4611952" cy="77364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4899"/>
                </a:lnSpc>
              </a:pPr>
              <a:r>
                <a:rPr lang="en-US" sz="3499" dirty="0">
                  <a:solidFill>
                    <a:srgbClr val="331B0D"/>
                  </a:solidFill>
                  <a:latin typeface="Be Vietnam"/>
                  <a:ea typeface="Be Vietnam"/>
                  <a:cs typeface="Be Vietnam"/>
                  <a:sym typeface="Be Vietnam"/>
                </a:rPr>
                <a:t>1 </a:t>
              </a:r>
              <a:r>
                <a:rPr lang="en-US" sz="3499" dirty="0" err="1">
                  <a:solidFill>
                    <a:srgbClr val="331B0D"/>
                  </a:solidFill>
                  <a:latin typeface="Be Vietnam"/>
                  <a:ea typeface="Be Vietnam"/>
                  <a:cs typeface="Be Vietnam"/>
                  <a:sym typeface="Be Vietnam"/>
                </a:rPr>
                <a:t>Tầng</a:t>
              </a:r>
              <a:r>
                <a:rPr lang="en-US" sz="3499" dirty="0">
                  <a:solidFill>
                    <a:srgbClr val="331B0D"/>
                  </a:solidFill>
                  <a:latin typeface="Be Vietnam"/>
                  <a:ea typeface="Be Vietnam"/>
                  <a:cs typeface="Be Vietnam"/>
                  <a:sym typeface="Be Vietnam"/>
                </a:rPr>
                <a:t> 3 x 3 LED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66675"/>
              <a:ext cx="5014983" cy="13874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3000" b="1">
                  <a:solidFill>
                    <a:srgbClr val="331B0D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Nguồn ảnh:</a:t>
              </a:r>
            </a:p>
            <a:p>
              <a:pPr algn="l">
                <a:lnSpc>
                  <a:spcPts val="4200"/>
                </a:lnSpc>
              </a:pPr>
              <a:r>
                <a:rPr lang="en-US" sz="3000" b="1">
                  <a:solidFill>
                    <a:srgbClr val="331B0D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Wiki CCC Göttingen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6572078" y="410085"/>
            <a:ext cx="5143845" cy="9129926"/>
            <a:chOff x="0" y="0"/>
            <a:chExt cx="6858460" cy="1217323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858460" cy="11407002"/>
            </a:xfrm>
            <a:custGeom>
              <a:avLst/>
              <a:gdLst/>
              <a:ahLst/>
              <a:cxnLst/>
              <a:rect l="l" t="t" r="r" b="b"/>
              <a:pathLst>
                <a:path w="6858460" h="11407002">
                  <a:moveTo>
                    <a:pt x="0" y="0"/>
                  </a:moveTo>
                  <a:lnTo>
                    <a:pt x="6858460" y="0"/>
                  </a:lnTo>
                  <a:lnTo>
                    <a:pt x="6858460" y="11407002"/>
                  </a:lnTo>
                  <a:lnTo>
                    <a:pt x="0" y="114070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001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07950" y="11399593"/>
              <a:ext cx="5242560" cy="7736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899"/>
                </a:lnSpc>
              </a:pPr>
              <a:r>
                <a:rPr lang="en-US" sz="3499">
                  <a:solidFill>
                    <a:srgbClr val="331B0D"/>
                  </a:solidFill>
                  <a:latin typeface="Be Vietnam"/>
                  <a:ea typeface="Be Vietnam"/>
                  <a:cs typeface="Be Vietnam"/>
                  <a:sym typeface="Be Vietnam"/>
                </a:rPr>
                <a:t>1 Khối 3 x 3 x 3 LED</a:t>
              </a:r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066800" y="9809813"/>
            <a:ext cx="2055316" cy="264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39"/>
              </a:lnSpc>
              <a:spcBef>
                <a:spcPct val="0"/>
              </a:spcBef>
            </a:pPr>
            <a:r>
              <a:rPr lang="en-US" sz="1599" spc="159">
                <a:solidFill>
                  <a:srgbClr val="000000">
                    <a:alpha val="49804"/>
                  </a:srgbClr>
                </a:solidFill>
                <a:latin typeface="Be Vietnam"/>
                <a:ea typeface="Be Vietnam"/>
                <a:cs typeface="Be Vietnam"/>
                <a:sym typeface="Be Vietnam"/>
              </a:rPr>
              <a:t>LED CUBE NHÓM 5</a:t>
            </a:r>
          </a:p>
        </p:txBody>
      </p:sp>
      <p:sp>
        <p:nvSpPr>
          <p:cNvPr id="11" name="Freeform 11"/>
          <p:cNvSpPr/>
          <p:nvPr/>
        </p:nvSpPr>
        <p:spPr>
          <a:xfrm>
            <a:off x="12077999" y="410085"/>
            <a:ext cx="5128296" cy="8555251"/>
          </a:xfrm>
          <a:custGeom>
            <a:avLst/>
            <a:gdLst/>
            <a:ahLst/>
            <a:cxnLst/>
            <a:rect l="l" t="t" r="r" b="b"/>
            <a:pathLst>
              <a:path w="5128296" h="8555251">
                <a:moveTo>
                  <a:pt x="0" y="0"/>
                </a:moveTo>
                <a:lnTo>
                  <a:pt x="5128296" y="0"/>
                </a:lnTo>
                <a:lnTo>
                  <a:pt x="5128296" y="8555252"/>
                </a:lnTo>
                <a:lnTo>
                  <a:pt x="0" y="855525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b="-8249"/>
            </a:stretch>
          </a:blipFill>
        </p:spPr>
        <p:txBody>
          <a:bodyPr/>
          <a:lstStyle/>
          <a:p>
            <a:endParaRPr lang="en-001"/>
          </a:p>
        </p:txBody>
      </p:sp>
      <p:grpSp>
        <p:nvGrpSpPr>
          <p:cNvPr id="12" name="Group 12"/>
          <p:cNvGrpSpPr/>
          <p:nvPr/>
        </p:nvGrpSpPr>
        <p:grpSpPr>
          <a:xfrm>
            <a:off x="12077999" y="3124117"/>
            <a:ext cx="4859838" cy="6990570"/>
            <a:chOff x="0" y="0"/>
            <a:chExt cx="6479783" cy="9320760"/>
          </a:xfrm>
        </p:grpSpPr>
        <p:sp>
          <p:nvSpPr>
            <p:cNvPr id="13" name="TextBox 13"/>
            <p:cNvSpPr txBox="1"/>
            <p:nvPr/>
          </p:nvSpPr>
          <p:spPr>
            <a:xfrm>
              <a:off x="518127" y="7721618"/>
              <a:ext cx="5801474" cy="15991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899"/>
                </a:lnSpc>
              </a:pPr>
              <a:r>
                <a:rPr lang="en-US" sz="3499" dirty="0">
                  <a:solidFill>
                    <a:srgbClr val="331B0D"/>
                  </a:solidFill>
                  <a:latin typeface="Be Vietnam"/>
                  <a:ea typeface="Be Vietnam"/>
                  <a:cs typeface="Be Vietnam"/>
                  <a:sym typeface="Be Vietnam"/>
                </a:rPr>
                <a:t>Source </a:t>
              </a:r>
              <a:r>
                <a:rPr lang="en-US" sz="3499" dirty="0" err="1">
                  <a:solidFill>
                    <a:srgbClr val="331B0D"/>
                  </a:solidFill>
                  <a:latin typeface="Be Vietnam"/>
                  <a:ea typeface="Be Vietnam"/>
                  <a:cs typeface="Be Vietnam"/>
                  <a:sym typeface="Be Vietnam"/>
                </a:rPr>
                <a:t>dòng</a:t>
              </a:r>
              <a:r>
                <a:rPr lang="en-US" sz="3499" dirty="0">
                  <a:solidFill>
                    <a:srgbClr val="331B0D"/>
                  </a:solidFill>
                  <a:latin typeface="Be Vietnam"/>
                  <a:ea typeface="Be Vietnam"/>
                  <a:cs typeface="Be Vietnam"/>
                  <a:sym typeface="Be Vietnam"/>
                </a:rPr>
                <a:t> </a:t>
              </a:r>
              <a:r>
                <a:rPr lang="en-US" sz="3499" dirty="0" err="1">
                  <a:solidFill>
                    <a:srgbClr val="331B0D"/>
                  </a:solidFill>
                  <a:latin typeface="Be Vietnam"/>
                  <a:ea typeface="Be Vietnam"/>
                  <a:cs typeface="Be Vietnam"/>
                  <a:sym typeface="Be Vietnam"/>
                </a:rPr>
                <a:t>tầng</a:t>
              </a:r>
              <a:r>
                <a:rPr lang="en-US" sz="3499" dirty="0">
                  <a:solidFill>
                    <a:srgbClr val="331B0D"/>
                  </a:solidFill>
                  <a:latin typeface="Be Vietnam"/>
                  <a:ea typeface="Be Vietnam"/>
                  <a:cs typeface="Be Vietnam"/>
                  <a:sym typeface="Be Vietnam"/>
                </a:rPr>
                <a:t> 1 Sink </a:t>
              </a:r>
              <a:r>
                <a:rPr lang="en-US" sz="3499" dirty="0" err="1">
                  <a:solidFill>
                    <a:srgbClr val="331B0D"/>
                  </a:solidFill>
                  <a:latin typeface="Be Vietnam"/>
                  <a:ea typeface="Be Vietnam"/>
                  <a:cs typeface="Be Vietnam"/>
                  <a:sym typeface="Be Vietnam"/>
                </a:rPr>
                <a:t>dòng</a:t>
              </a:r>
              <a:r>
                <a:rPr lang="en-US" sz="3499" dirty="0">
                  <a:solidFill>
                    <a:srgbClr val="331B0D"/>
                  </a:solidFill>
                  <a:latin typeface="Be Vietnam"/>
                  <a:ea typeface="Be Vietnam"/>
                  <a:cs typeface="Be Vietnam"/>
                  <a:sym typeface="Be Vietnam"/>
                </a:rPr>
                <a:t> </a:t>
              </a:r>
              <a:r>
                <a:rPr lang="en-US" sz="3499" dirty="0" err="1">
                  <a:solidFill>
                    <a:srgbClr val="331B0D"/>
                  </a:solidFill>
                  <a:latin typeface="Be Vietnam"/>
                  <a:ea typeface="Be Vietnam"/>
                  <a:cs typeface="Be Vietnam"/>
                  <a:sym typeface="Be Vietnam"/>
                </a:rPr>
                <a:t>cột</a:t>
              </a:r>
              <a:r>
                <a:rPr lang="en-US" sz="3499" dirty="0">
                  <a:solidFill>
                    <a:srgbClr val="331B0D"/>
                  </a:solidFill>
                  <a:latin typeface="Be Vietnam"/>
                  <a:ea typeface="Be Vietnam"/>
                  <a:cs typeface="Be Vietnam"/>
                  <a:sym typeface="Be Vietnam"/>
                </a:rPr>
                <a:t> (1, 1)</a:t>
              </a:r>
            </a:p>
          </p:txBody>
        </p:sp>
        <p:grpSp>
          <p:nvGrpSpPr>
            <p:cNvPr id="14" name="Group 14"/>
            <p:cNvGrpSpPr/>
            <p:nvPr/>
          </p:nvGrpSpPr>
          <p:grpSpPr>
            <a:xfrm rot="7595528">
              <a:off x="3526062" y="3746790"/>
              <a:ext cx="3365106" cy="668013"/>
              <a:chOff x="0" y="0"/>
              <a:chExt cx="2019837" cy="400961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2019837" cy="400961"/>
              </a:xfrm>
              <a:custGeom>
                <a:avLst/>
                <a:gdLst/>
                <a:ahLst/>
                <a:cxnLst/>
                <a:rect l="l" t="t" r="r" b="b"/>
                <a:pathLst>
                  <a:path w="2019837" h="400961">
                    <a:moveTo>
                      <a:pt x="239386" y="165559"/>
                    </a:moveTo>
                    <a:lnTo>
                      <a:pt x="2019837" y="165559"/>
                    </a:lnTo>
                    <a:lnTo>
                      <a:pt x="2019837" y="235389"/>
                    </a:lnTo>
                    <a:lnTo>
                      <a:pt x="239373" y="235389"/>
                    </a:lnTo>
                    <a:lnTo>
                      <a:pt x="302255" y="400961"/>
                    </a:lnTo>
                    <a:lnTo>
                      <a:pt x="0" y="200481"/>
                    </a:lnTo>
                    <a:lnTo>
                      <a:pt x="302255" y="0"/>
                    </a:lnTo>
                    <a:lnTo>
                      <a:pt x="239386" y="165559"/>
                    </a:lnTo>
                    <a:close/>
                  </a:path>
                </a:pathLst>
              </a:custGeom>
              <a:solidFill>
                <a:srgbClr val="FF3131"/>
              </a:solidFill>
            </p:spPr>
            <p:txBody>
              <a:bodyPr/>
              <a:lstStyle/>
              <a:p>
                <a:endParaRPr lang="en-001"/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120650" y="146050"/>
                <a:ext cx="1899187" cy="8981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680"/>
                  </a:lnSpc>
                </a:pPr>
                <a:endParaRPr/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>
              <a:off x="0" y="5024523"/>
              <a:ext cx="4313224" cy="668013"/>
              <a:chOff x="0" y="0"/>
              <a:chExt cx="2588925" cy="400961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2588925" cy="400961"/>
              </a:xfrm>
              <a:custGeom>
                <a:avLst/>
                <a:gdLst/>
                <a:ahLst/>
                <a:cxnLst/>
                <a:rect l="l" t="t" r="r" b="b"/>
                <a:pathLst>
                  <a:path w="2588925" h="400961">
                    <a:moveTo>
                      <a:pt x="239386" y="165559"/>
                    </a:moveTo>
                    <a:lnTo>
                      <a:pt x="2588925" y="165559"/>
                    </a:lnTo>
                    <a:lnTo>
                      <a:pt x="2588925" y="235389"/>
                    </a:lnTo>
                    <a:lnTo>
                      <a:pt x="239373" y="235389"/>
                    </a:lnTo>
                    <a:lnTo>
                      <a:pt x="302255" y="400961"/>
                    </a:lnTo>
                    <a:lnTo>
                      <a:pt x="0" y="200481"/>
                    </a:lnTo>
                    <a:lnTo>
                      <a:pt x="302255" y="0"/>
                    </a:lnTo>
                    <a:lnTo>
                      <a:pt x="239386" y="165559"/>
                    </a:lnTo>
                    <a:close/>
                  </a:path>
                </a:pathLst>
              </a:custGeom>
              <a:solidFill>
                <a:srgbClr val="4DFF69"/>
              </a:solidFill>
            </p:spPr>
            <p:txBody>
              <a:bodyPr/>
              <a:lstStyle/>
              <a:p>
                <a:endParaRPr lang="en-001"/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120650" y="146050"/>
                <a:ext cx="2468275" cy="8981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680"/>
                  </a:lnSpc>
                </a:pPr>
                <a:endParaRPr/>
              </a:p>
            </p:txBody>
          </p:sp>
        </p:grpSp>
        <p:grpSp>
          <p:nvGrpSpPr>
            <p:cNvPr id="20" name="Group 20"/>
            <p:cNvGrpSpPr/>
            <p:nvPr/>
          </p:nvGrpSpPr>
          <p:grpSpPr>
            <a:xfrm rot="5400000">
              <a:off x="1592188" y="2345258"/>
              <a:ext cx="5358530" cy="668013"/>
              <a:chOff x="0" y="0"/>
              <a:chExt cx="3216349" cy="400961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0" y="0"/>
                <a:ext cx="3216349" cy="400961"/>
              </a:xfrm>
              <a:custGeom>
                <a:avLst/>
                <a:gdLst/>
                <a:ahLst/>
                <a:cxnLst/>
                <a:rect l="l" t="t" r="r" b="b"/>
                <a:pathLst>
                  <a:path w="3216349" h="400961">
                    <a:moveTo>
                      <a:pt x="239386" y="165559"/>
                    </a:moveTo>
                    <a:lnTo>
                      <a:pt x="3216349" y="165559"/>
                    </a:lnTo>
                    <a:lnTo>
                      <a:pt x="3216349" y="235389"/>
                    </a:lnTo>
                    <a:lnTo>
                      <a:pt x="239373" y="235389"/>
                    </a:lnTo>
                    <a:lnTo>
                      <a:pt x="302255" y="400961"/>
                    </a:lnTo>
                    <a:lnTo>
                      <a:pt x="0" y="200481"/>
                    </a:lnTo>
                    <a:lnTo>
                      <a:pt x="302255" y="0"/>
                    </a:lnTo>
                    <a:lnTo>
                      <a:pt x="239386" y="165559"/>
                    </a:lnTo>
                    <a:close/>
                  </a:path>
                </a:pathLst>
              </a:custGeom>
              <a:solidFill>
                <a:srgbClr val="4D4DFF"/>
              </a:solidFill>
            </p:spPr>
            <p:txBody>
              <a:bodyPr/>
              <a:lstStyle/>
              <a:p>
                <a:endParaRPr lang="en-001"/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120650" y="146050"/>
                <a:ext cx="3095699" cy="8981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680"/>
                  </a:lnSpc>
                </a:pPr>
                <a:endParaRPr/>
              </a:p>
            </p:txBody>
          </p:sp>
        </p:grpSp>
      </p:grpSp>
      <p:sp>
        <p:nvSpPr>
          <p:cNvPr id="23" name="TextBox 23"/>
          <p:cNvSpPr txBox="1"/>
          <p:nvPr/>
        </p:nvSpPr>
        <p:spPr>
          <a:xfrm>
            <a:off x="1028700" y="1116534"/>
            <a:ext cx="5543378" cy="6502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dirty="0">
                <a:solidFill>
                  <a:srgbClr val="331B0D"/>
                </a:solidFill>
                <a:latin typeface="Be Vietnam"/>
                <a:ea typeface="Be Vietnam"/>
                <a:cs typeface="Be Vietnam"/>
                <a:sym typeface="Be Vietnam"/>
              </a:rPr>
              <a:t>4.Thuật </a:t>
            </a:r>
            <a:r>
              <a:rPr lang="en-US" sz="3999" dirty="0" err="1">
                <a:solidFill>
                  <a:srgbClr val="331B0D"/>
                </a:solidFill>
                <a:latin typeface="Be Vietnam"/>
                <a:ea typeface="Be Vietnam"/>
                <a:cs typeface="Be Vietnam"/>
                <a:sym typeface="Be Vietnam"/>
              </a:rPr>
              <a:t>toán</a:t>
            </a:r>
            <a:r>
              <a:rPr lang="en-US" sz="3999" dirty="0">
                <a:solidFill>
                  <a:srgbClr val="331B0D"/>
                </a:solidFill>
                <a:latin typeface="Be Vietnam"/>
                <a:ea typeface="Be Vietnam"/>
                <a:cs typeface="Be Vietnam"/>
                <a:sym typeface="Be Vietnam"/>
              </a:rPr>
              <a:t> </a:t>
            </a:r>
            <a:r>
              <a:rPr lang="en-US" sz="3999" dirty="0" err="1">
                <a:solidFill>
                  <a:srgbClr val="331B0D"/>
                </a:solidFill>
                <a:latin typeface="Be Vietnam"/>
                <a:ea typeface="Be Vietnam"/>
                <a:cs typeface="Be Vietnam"/>
                <a:sym typeface="Be Vietnam"/>
              </a:rPr>
              <a:t>quét</a:t>
            </a:r>
            <a:r>
              <a:rPr lang="en-US" sz="3999" dirty="0">
                <a:solidFill>
                  <a:srgbClr val="331B0D"/>
                </a:solidFill>
                <a:latin typeface="Be Vietnam"/>
                <a:ea typeface="Be Vietnam"/>
                <a:cs typeface="Be Vietnam"/>
                <a:sym typeface="Be Vietnam"/>
              </a:rPr>
              <a:t> LED</a:t>
            </a:r>
          </a:p>
        </p:txBody>
      </p:sp>
    </p:spTree>
  </p:cSld>
  <p:clrMapOvr>
    <a:masterClrMapping/>
  </p:clrMapOvr>
  <p:transition spd="slow">
    <p:push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60772" y="2074669"/>
            <a:ext cx="4960073" cy="7424630"/>
            <a:chOff x="0" y="0"/>
            <a:chExt cx="6613431" cy="9899506"/>
          </a:xfrm>
        </p:grpSpPr>
        <p:sp>
          <p:nvSpPr>
            <p:cNvPr id="3" name="TextBox 3"/>
            <p:cNvSpPr txBox="1"/>
            <p:nvPr/>
          </p:nvSpPr>
          <p:spPr>
            <a:xfrm>
              <a:off x="1307846" y="9125864"/>
              <a:ext cx="4516596" cy="7736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899"/>
                </a:lnSpc>
                <a:spcBef>
                  <a:spcPct val="0"/>
                </a:spcBef>
              </a:pPr>
              <a:r>
                <a:rPr lang="en-US" sz="3499">
                  <a:solidFill>
                    <a:srgbClr val="331B0D"/>
                  </a:solidFill>
                  <a:latin typeface="Be Vietnam"/>
                  <a:ea typeface="Be Vietnam"/>
                  <a:cs typeface="Be Vietnam"/>
                  <a:sym typeface="Be Vietnam"/>
                </a:rPr>
                <a:t>Bật LED (1, 1, 1)</a:t>
              </a:r>
            </a:p>
          </p:txBody>
        </p:sp>
        <p:sp>
          <p:nvSpPr>
            <p:cNvPr id="4" name="Freeform 4"/>
            <p:cNvSpPr/>
            <p:nvPr/>
          </p:nvSpPr>
          <p:spPr>
            <a:xfrm>
              <a:off x="518858" y="1692378"/>
              <a:ext cx="6094573" cy="7495180"/>
            </a:xfrm>
            <a:custGeom>
              <a:avLst/>
              <a:gdLst/>
              <a:ahLst/>
              <a:cxnLst/>
              <a:rect l="l" t="t" r="r" b="b"/>
              <a:pathLst>
                <a:path w="6094573" h="7495180">
                  <a:moveTo>
                    <a:pt x="0" y="0"/>
                  </a:moveTo>
                  <a:lnTo>
                    <a:pt x="6094573" y="0"/>
                  </a:lnTo>
                  <a:lnTo>
                    <a:pt x="6094573" y="7495179"/>
                  </a:lnTo>
                  <a:lnTo>
                    <a:pt x="0" y="74951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35193" b="-11648"/>
              </a:stretch>
            </a:blipFill>
          </p:spPr>
          <p:txBody>
            <a:bodyPr/>
            <a:lstStyle/>
            <a:p>
              <a:endParaRPr lang="en-001"/>
            </a:p>
          </p:txBody>
        </p:sp>
        <p:grpSp>
          <p:nvGrpSpPr>
            <p:cNvPr id="5" name="Group 5"/>
            <p:cNvGrpSpPr/>
            <p:nvPr/>
          </p:nvGrpSpPr>
          <p:grpSpPr>
            <a:xfrm rot="7595528">
              <a:off x="3526062" y="5439168"/>
              <a:ext cx="3365106" cy="668013"/>
              <a:chOff x="0" y="0"/>
              <a:chExt cx="2019837" cy="400961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2019837" cy="400961"/>
              </a:xfrm>
              <a:custGeom>
                <a:avLst/>
                <a:gdLst/>
                <a:ahLst/>
                <a:cxnLst/>
                <a:rect l="l" t="t" r="r" b="b"/>
                <a:pathLst>
                  <a:path w="2019837" h="400961">
                    <a:moveTo>
                      <a:pt x="239386" y="165559"/>
                    </a:moveTo>
                    <a:lnTo>
                      <a:pt x="2019837" y="165559"/>
                    </a:lnTo>
                    <a:lnTo>
                      <a:pt x="2019837" y="235389"/>
                    </a:lnTo>
                    <a:lnTo>
                      <a:pt x="239373" y="235389"/>
                    </a:lnTo>
                    <a:lnTo>
                      <a:pt x="302255" y="400961"/>
                    </a:lnTo>
                    <a:lnTo>
                      <a:pt x="0" y="200481"/>
                    </a:lnTo>
                    <a:lnTo>
                      <a:pt x="302255" y="0"/>
                    </a:lnTo>
                    <a:lnTo>
                      <a:pt x="239386" y="165559"/>
                    </a:lnTo>
                    <a:close/>
                  </a:path>
                </a:pathLst>
              </a:custGeom>
              <a:solidFill>
                <a:srgbClr val="FF3131"/>
              </a:solidFill>
            </p:spPr>
            <p:txBody>
              <a:bodyPr/>
              <a:lstStyle/>
              <a:p>
                <a:endParaRPr lang="en-001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120650" y="146050"/>
                <a:ext cx="1899187" cy="8981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680"/>
                  </a:lnSpc>
                </a:pPr>
                <a:endParaRPr/>
              </a:p>
            </p:txBody>
          </p:sp>
        </p:grpSp>
        <p:grpSp>
          <p:nvGrpSpPr>
            <p:cNvPr id="8" name="Group 8"/>
            <p:cNvGrpSpPr/>
            <p:nvPr/>
          </p:nvGrpSpPr>
          <p:grpSpPr>
            <a:xfrm>
              <a:off x="0" y="6716901"/>
              <a:ext cx="4313224" cy="668013"/>
              <a:chOff x="0" y="0"/>
              <a:chExt cx="2588925" cy="400961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2588925" cy="400961"/>
              </a:xfrm>
              <a:custGeom>
                <a:avLst/>
                <a:gdLst/>
                <a:ahLst/>
                <a:cxnLst/>
                <a:rect l="l" t="t" r="r" b="b"/>
                <a:pathLst>
                  <a:path w="2588925" h="400961">
                    <a:moveTo>
                      <a:pt x="239386" y="165559"/>
                    </a:moveTo>
                    <a:lnTo>
                      <a:pt x="2588925" y="165559"/>
                    </a:lnTo>
                    <a:lnTo>
                      <a:pt x="2588925" y="235389"/>
                    </a:lnTo>
                    <a:lnTo>
                      <a:pt x="239373" y="235389"/>
                    </a:lnTo>
                    <a:lnTo>
                      <a:pt x="302255" y="400961"/>
                    </a:lnTo>
                    <a:lnTo>
                      <a:pt x="0" y="200481"/>
                    </a:lnTo>
                    <a:lnTo>
                      <a:pt x="302255" y="0"/>
                    </a:lnTo>
                    <a:lnTo>
                      <a:pt x="239386" y="165559"/>
                    </a:lnTo>
                    <a:close/>
                  </a:path>
                </a:pathLst>
              </a:custGeom>
              <a:solidFill>
                <a:srgbClr val="4DFF69"/>
              </a:solidFill>
            </p:spPr>
            <p:txBody>
              <a:bodyPr/>
              <a:lstStyle/>
              <a:p>
                <a:endParaRPr lang="en-001"/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120650" y="146050"/>
                <a:ext cx="2468275" cy="8981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680"/>
                  </a:lnSpc>
                </a:pPr>
                <a:endParaRPr/>
              </a:p>
            </p:txBody>
          </p:sp>
        </p:grpSp>
        <p:grpSp>
          <p:nvGrpSpPr>
            <p:cNvPr id="11" name="Group 11"/>
            <p:cNvGrpSpPr/>
            <p:nvPr/>
          </p:nvGrpSpPr>
          <p:grpSpPr>
            <a:xfrm rot="5400000">
              <a:off x="1592188" y="4037636"/>
              <a:ext cx="5358530" cy="668013"/>
              <a:chOff x="0" y="0"/>
              <a:chExt cx="3216349" cy="400961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3216349" cy="400961"/>
              </a:xfrm>
              <a:custGeom>
                <a:avLst/>
                <a:gdLst/>
                <a:ahLst/>
                <a:cxnLst/>
                <a:rect l="l" t="t" r="r" b="b"/>
                <a:pathLst>
                  <a:path w="3216349" h="400961">
                    <a:moveTo>
                      <a:pt x="239386" y="165559"/>
                    </a:moveTo>
                    <a:lnTo>
                      <a:pt x="3216349" y="165559"/>
                    </a:lnTo>
                    <a:lnTo>
                      <a:pt x="3216349" y="235389"/>
                    </a:lnTo>
                    <a:lnTo>
                      <a:pt x="239373" y="235389"/>
                    </a:lnTo>
                    <a:lnTo>
                      <a:pt x="302255" y="400961"/>
                    </a:lnTo>
                    <a:lnTo>
                      <a:pt x="0" y="200481"/>
                    </a:lnTo>
                    <a:lnTo>
                      <a:pt x="302255" y="0"/>
                    </a:lnTo>
                    <a:lnTo>
                      <a:pt x="239386" y="165559"/>
                    </a:lnTo>
                    <a:close/>
                  </a:path>
                </a:pathLst>
              </a:custGeom>
              <a:solidFill>
                <a:srgbClr val="4D4DFF"/>
              </a:solidFill>
            </p:spPr>
            <p:txBody>
              <a:bodyPr/>
              <a:lstStyle/>
              <a:p>
                <a:endParaRPr lang="en-001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20650" y="146050"/>
                <a:ext cx="3095699" cy="8981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680"/>
                  </a:lnSpc>
                </a:pPr>
                <a:endParaRPr/>
              </a:p>
            </p:txBody>
          </p:sp>
        </p:grpSp>
        <p:sp>
          <p:nvSpPr>
            <p:cNvPr id="14" name="TextBox 14"/>
            <p:cNvSpPr txBox="1"/>
            <p:nvPr/>
          </p:nvSpPr>
          <p:spPr>
            <a:xfrm>
              <a:off x="357237" y="-66675"/>
              <a:ext cx="5014983" cy="13874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3000" b="1">
                  <a:solidFill>
                    <a:srgbClr val="331B0D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Nguồn ảnh:</a:t>
              </a:r>
            </a:p>
            <a:p>
              <a:pPr algn="l">
                <a:lnSpc>
                  <a:spcPts val="4200"/>
                </a:lnSpc>
              </a:pPr>
              <a:r>
                <a:rPr lang="en-US" sz="3000" b="1">
                  <a:solidFill>
                    <a:srgbClr val="331B0D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Wiki CCC Göttingen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6539995" y="410085"/>
            <a:ext cx="5208009" cy="9704602"/>
            <a:chOff x="0" y="0"/>
            <a:chExt cx="6944012" cy="1293946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6944012" cy="11407002"/>
            </a:xfrm>
            <a:custGeom>
              <a:avLst/>
              <a:gdLst/>
              <a:ahLst/>
              <a:cxnLst/>
              <a:rect l="l" t="t" r="r" b="b"/>
              <a:pathLst>
                <a:path w="6944012" h="11407002">
                  <a:moveTo>
                    <a:pt x="0" y="0"/>
                  </a:moveTo>
                  <a:lnTo>
                    <a:pt x="6944012" y="0"/>
                  </a:lnTo>
                  <a:lnTo>
                    <a:pt x="6944012" y="11407002"/>
                  </a:lnTo>
                  <a:lnTo>
                    <a:pt x="0" y="114070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001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60798" y="11340327"/>
              <a:ext cx="5822417" cy="15991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899"/>
                </a:lnSpc>
              </a:pPr>
              <a:r>
                <a:rPr lang="en-US" sz="3499">
                  <a:solidFill>
                    <a:srgbClr val="331B0D"/>
                  </a:solidFill>
                  <a:latin typeface="Be Vietnam"/>
                  <a:ea typeface="Be Vietnam"/>
                  <a:cs typeface="Be Vietnam"/>
                  <a:sym typeface="Be Vietnam"/>
                </a:rPr>
                <a:t>Bật LED  </a:t>
              </a:r>
            </a:p>
            <a:p>
              <a:pPr algn="ctr">
                <a:lnSpc>
                  <a:spcPts val="4899"/>
                </a:lnSpc>
                <a:spcBef>
                  <a:spcPct val="0"/>
                </a:spcBef>
              </a:pPr>
              <a:r>
                <a:rPr lang="en-US" sz="3499">
                  <a:solidFill>
                    <a:srgbClr val="331B0D"/>
                  </a:solidFill>
                  <a:latin typeface="Be Vietnam"/>
                  <a:ea typeface="Be Vietnam"/>
                  <a:cs typeface="Be Vietnam"/>
                  <a:sym typeface="Be Vietnam"/>
                </a:rPr>
                <a:t>(0, 2, 0) và (2, 0, 2)?</a:t>
              </a:r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391903" y="514860"/>
            <a:ext cx="5655112" cy="650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99"/>
              </a:lnSpc>
            </a:pPr>
            <a:r>
              <a:rPr lang="en-US" sz="4999" b="1" spc="-299">
                <a:solidFill>
                  <a:srgbClr val="331B0D"/>
                </a:solidFill>
                <a:latin typeface="K2D Bold"/>
                <a:ea typeface="K2D Bold"/>
                <a:cs typeface="K2D Bold"/>
                <a:sym typeface="K2D Bold"/>
              </a:rPr>
              <a:t>Nguyên Lý Hoạt Động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12051291" y="410085"/>
            <a:ext cx="5208009" cy="9732452"/>
            <a:chOff x="0" y="0"/>
            <a:chExt cx="6944012" cy="12976603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6944012" cy="11407002"/>
            </a:xfrm>
            <a:custGeom>
              <a:avLst/>
              <a:gdLst/>
              <a:ahLst/>
              <a:cxnLst/>
              <a:rect l="l" t="t" r="r" b="b"/>
              <a:pathLst>
                <a:path w="6944012" h="11407002">
                  <a:moveTo>
                    <a:pt x="0" y="0"/>
                  </a:moveTo>
                  <a:lnTo>
                    <a:pt x="6944012" y="0"/>
                  </a:lnTo>
                  <a:lnTo>
                    <a:pt x="6944012" y="11407002"/>
                  </a:lnTo>
                  <a:lnTo>
                    <a:pt x="0" y="114070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001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27035" y="11377461"/>
              <a:ext cx="6689942" cy="15991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899"/>
                </a:lnSpc>
              </a:pPr>
              <a:r>
                <a:rPr lang="en-US" sz="3499">
                  <a:solidFill>
                    <a:srgbClr val="331B0D"/>
                  </a:solidFill>
                  <a:latin typeface="Be Vietnam"/>
                  <a:ea typeface="Be Vietnam"/>
                  <a:cs typeface="Be Vietnam"/>
                  <a:sym typeface="Be Vietnam"/>
                </a:rPr>
                <a:t>Dùng vi điều khiển và</a:t>
              </a:r>
            </a:p>
            <a:p>
              <a:pPr algn="ctr">
                <a:lnSpc>
                  <a:spcPts val="4899"/>
                </a:lnSpc>
                <a:spcBef>
                  <a:spcPct val="0"/>
                </a:spcBef>
              </a:pPr>
              <a:r>
                <a:rPr lang="en-US" sz="3499">
                  <a:solidFill>
                    <a:srgbClr val="331B0D"/>
                  </a:solidFill>
                  <a:latin typeface="Be Vietnam"/>
                  <a:ea typeface="Be Vietnam"/>
                  <a:cs typeface="Be Vietnam"/>
                  <a:sym typeface="Be Vietnam"/>
                </a:rPr>
                <a:t>IC Driver để “quét LED”</a:t>
              </a:r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1085850" y="9809813"/>
            <a:ext cx="2055316" cy="264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39"/>
              </a:lnSpc>
              <a:spcBef>
                <a:spcPct val="0"/>
              </a:spcBef>
            </a:pPr>
            <a:r>
              <a:rPr lang="en-US" sz="1599" spc="159">
                <a:solidFill>
                  <a:srgbClr val="000000">
                    <a:alpha val="49804"/>
                  </a:srgbClr>
                </a:solidFill>
                <a:latin typeface="Be Vietnam"/>
                <a:ea typeface="Be Vietnam"/>
                <a:cs typeface="Be Vietnam"/>
                <a:sym typeface="Be Vietnam"/>
              </a:rPr>
              <a:t>LED CUBE NHÓM 5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28700" y="1116534"/>
            <a:ext cx="5500222" cy="6502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dirty="0">
                <a:solidFill>
                  <a:srgbClr val="331B0D"/>
                </a:solidFill>
                <a:latin typeface="Be Vietnam"/>
                <a:ea typeface="Be Vietnam"/>
                <a:cs typeface="Be Vietnam"/>
                <a:sym typeface="Be Vietnam"/>
              </a:rPr>
              <a:t>4.Thuật </a:t>
            </a:r>
            <a:r>
              <a:rPr lang="en-US" sz="3999" dirty="0" err="1">
                <a:solidFill>
                  <a:srgbClr val="331B0D"/>
                </a:solidFill>
                <a:latin typeface="Be Vietnam"/>
                <a:ea typeface="Be Vietnam"/>
                <a:cs typeface="Be Vietnam"/>
                <a:sym typeface="Be Vietnam"/>
              </a:rPr>
              <a:t>toán</a:t>
            </a:r>
            <a:r>
              <a:rPr lang="en-US" sz="3999" dirty="0">
                <a:solidFill>
                  <a:srgbClr val="331B0D"/>
                </a:solidFill>
                <a:latin typeface="Be Vietnam"/>
                <a:ea typeface="Be Vietnam"/>
                <a:cs typeface="Be Vietnam"/>
                <a:sym typeface="Be Vietnam"/>
              </a:rPr>
              <a:t> </a:t>
            </a:r>
            <a:r>
              <a:rPr lang="en-US" sz="3999" dirty="0" err="1">
                <a:solidFill>
                  <a:srgbClr val="331B0D"/>
                </a:solidFill>
                <a:latin typeface="Be Vietnam"/>
                <a:ea typeface="Be Vietnam"/>
                <a:cs typeface="Be Vietnam"/>
                <a:sym typeface="Be Vietnam"/>
              </a:rPr>
              <a:t>quét</a:t>
            </a:r>
            <a:r>
              <a:rPr lang="en-US" sz="3999" dirty="0">
                <a:solidFill>
                  <a:srgbClr val="331B0D"/>
                </a:solidFill>
                <a:latin typeface="Be Vietnam"/>
                <a:ea typeface="Be Vietnam"/>
                <a:cs typeface="Be Vietnam"/>
                <a:sym typeface="Be Vietnam"/>
              </a:rPr>
              <a:t> LED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6240830" y="1165735"/>
            <a:ext cx="5810460" cy="6341579"/>
            <a:chOff x="0" y="0"/>
            <a:chExt cx="7747280" cy="8455439"/>
          </a:xfrm>
        </p:grpSpPr>
        <p:sp>
          <p:nvSpPr>
            <p:cNvPr id="25" name="TextBox 25"/>
            <p:cNvSpPr txBox="1"/>
            <p:nvPr/>
          </p:nvSpPr>
          <p:spPr>
            <a:xfrm>
              <a:off x="0" y="7779164"/>
              <a:ext cx="2053908" cy="6762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200"/>
                </a:lnSpc>
                <a:spcBef>
                  <a:spcPct val="0"/>
                </a:spcBef>
              </a:pPr>
              <a:r>
                <a:rPr lang="en-US" sz="3000" b="1">
                  <a:solidFill>
                    <a:srgbClr val="000000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(0, 2, 0)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693373" y="-66675"/>
              <a:ext cx="2039144" cy="6762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200"/>
                </a:lnSpc>
                <a:spcBef>
                  <a:spcPct val="0"/>
                </a:spcBef>
              </a:pPr>
              <a:r>
                <a:rPr lang="en-US" sz="3000" b="1">
                  <a:solidFill>
                    <a:srgbClr val="000000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(2, 0, 2)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693373" y="6094989"/>
              <a:ext cx="2053908" cy="6762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200"/>
                </a:lnSpc>
                <a:spcBef>
                  <a:spcPct val="0"/>
                </a:spcBef>
              </a:pPr>
              <a:r>
                <a:rPr lang="en-US" sz="3000" b="1">
                  <a:solidFill>
                    <a:srgbClr val="000000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(2, 0, 0)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1594329"/>
              <a:ext cx="2039144" cy="6762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200"/>
                </a:lnSpc>
                <a:spcBef>
                  <a:spcPct val="0"/>
                </a:spcBef>
              </a:pPr>
              <a:r>
                <a:rPr lang="en-US" sz="3000" b="1">
                  <a:solidFill>
                    <a:srgbClr val="000000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(0, 2, 2)</a:t>
              </a:r>
            </a:p>
          </p:txBody>
        </p:sp>
      </p:grpSp>
    </p:spTree>
  </p:cSld>
  <p:clrMapOvr>
    <a:masterClrMapping/>
  </p:clrMapOvr>
  <p:transition spd="slow">
    <p:push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141235" y="2252865"/>
            <a:ext cx="7118065" cy="5781270"/>
          </a:xfrm>
          <a:custGeom>
            <a:avLst/>
            <a:gdLst/>
            <a:ahLst/>
            <a:cxnLst/>
            <a:rect l="l" t="t" r="r" b="b"/>
            <a:pathLst>
              <a:path w="7118065" h="5781270">
                <a:moveTo>
                  <a:pt x="0" y="0"/>
                </a:moveTo>
                <a:lnTo>
                  <a:pt x="7118065" y="0"/>
                </a:lnTo>
                <a:lnTo>
                  <a:pt x="7118065" y="5781270"/>
                </a:lnTo>
                <a:lnTo>
                  <a:pt x="0" y="57812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462"/>
            </a:stretch>
          </a:blipFill>
        </p:spPr>
        <p:txBody>
          <a:bodyPr/>
          <a:lstStyle/>
          <a:p>
            <a:endParaRPr lang="en-001"/>
          </a:p>
        </p:txBody>
      </p:sp>
      <p:sp>
        <p:nvSpPr>
          <p:cNvPr id="3" name="TextBox 3"/>
          <p:cNvSpPr txBox="1"/>
          <p:nvPr/>
        </p:nvSpPr>
        <p:spPr>
          <a:xfrm>
            <a:off x="1066800" y="3121025"/>
            <a:ext cx="8310801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00"/>
              </a:lnSpc>
              <a:spcBef>
                <a:spcPct val="0"/>
              </a:spcBef>
            </a:pPr>
            <a:r>
              <a:rPr lang="en-US" sz="3500">
                <a:solidFill>
                  <a:srgbClr val="331B0D"/>
                </a:solidFill>
                <a:latin typeface="Be Vietnam"/>
                <a:ea typeface="Be Vietnam"/>
                <a:cs typeface="Be Vietnam"/>
                <a:sym typeface="Be Vietnam"/>
              </a:rPr>
              <a:t>Bước 1: Chọn tầng để bật (Ví dụ tầng 1)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4241800"/>
            <a:ext cx="8631317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00"/>
              </a:lnSpc>
              <a:spcBef>
                <a:spcPct val="0"/>
              </a:spcBef>
            </a:pPr>
            <a:r>
              <a:rPr lang="en-US" sz="3500">
                <a:solidFill>
                  <a:srgbClr val="331B0D"/>
                </a:solidFill>
                <a:latin typeface="Be Vietnam"/>
                <a:ea typeface="Be Vietnam"/>
                <a:cs typeface="Be Vietnam"/>
                <a:sym typeface="Be Vietnam"/>
              </a:rPr>
              <a:t>Bước 2: Bật tắt LED theo tọa độ (Bitmap)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5362575"/>
            <a:ext cx="8801100" cy="5690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900"/>
              </a:lnSpc>
              <a:spcBef>
                <a:spcPct val="0"/>
              </a:spcBef>
            </a:pPr>
            <a:r>
              <a:rPr lang="en-US" sz="3500" dirty="0" err="1">
                <a:solidFill>
                  <a:srgbClr val="331B0D"/>
                </a:solidFill>
                <a:latin typeface="Be Vietnam"/>
                <a:ea typeface="Be Vietnam"/>
                <a:cs typeface="Be Vietnam"/>
                <a:sym typeface="Be Vietnam"/>
              </a:rPr>
              <a:t>Bước</a:t>
            </a:r>
            <a:r>
              <a:rPr lang="en-US" sz="3500" dirty="0">
                <a:solidFill>
                  <a:srgbClr val="331B0D"/>
                </a:solidFill>
                <a:latin typeface="Be Vietnam"/>
                <a:ea typeface="Be Vietnam"/>
                <a:cs typeface="Be Vietnam"/>
                <a:sym typeface="Be Vietnam"/>
              </a:rPr>
              <a:t> 3: </a:t>
            </a:r>
            <a:r>
              <a:rPr lang="en-US" sz="3500" dirty="0" err="1">
                <a:solidFill>
                  <a:srgbClr val="331B0D"/>
                </a:solidFill>
                <a:latin typeface="Be Vietnam"/>
                <a:ea typeface="Be Vietnam"/>
                <a:cs typeface="Be Vietnam"/>
                <a:sym typeface="Be Vietnam"/>
              </a:rPr>
              <a:t>Tắt</a:t>
            </a:r>
            <a:r>
              <a:rPr lang="en-US" sz="3500" dirty="0">
                <a:solidFill>
                  <a:srgbClr val="331B0D"/>
                </a:solidFill>
                <a:latin typeface="Be Vietnam"/>
                <a:ea typeface="Be Vietnam"/>
                <a:cs typeface="Be Vietnam"/>
                <a:sym typeface="Be Vietnam"/>
              </a:rPr>
              <a:t> </a:t>
            </a:r>
            <a:r>
              <a:rPr lang="en-US" sz="3500" dirty="0" err="1">
                <a:solidFill>
                  <a:srgbClr val="331B0D"/>
                </a:solidFill>
                <a:latin typeface="Be Vietnam"/>
                <a:ea typeface="Be Vietnam"/>
                <a:cs typeface="Be Vietnam"/>
                <a:sym typeface="Be Vietnam"/>
              </a:rPr>
              <a:t>tầng</a:t>
            </a:r>
            <a:r>
              <a:rPr lang="en-US" sz="3500" dirty="0">
                <a:solidFill>
                  <a:srgbClr val="331B0D"/>
                </a:solidFill>
                <a:latin typeface="Be Vietnam"/>
                <a:ea typeface="Be Vietnam"/>
                <a:cs typeface="Be Vietnam"/>
                <a:sym typeface="Be Vietnam"/>
              </a:rPr>
              <a:t> 1 </a:t>
            </a:r>
            <a:r>
              <a:rPr lang="en-US" sz="3500" dirty="0" err="1">
                <a:solidFill>
                  <a:srgbClr val="331B0D"/>
                </a:solidFill>
                <a:latin typeface="Be Vietnam"/>
                <a:ea typeface="Be Vietnam"/>
                <a:cs typeface="Be Vietnam"/>
                <a:sym typeface="Be Vietnam"/>
              </a:rPr>
              <a:t>và</a:t>
            </a:r>
            <a:r>
              <a:rPr lang="en-US" sz="3500" dirty="0">
                <a:solidFill>
                  <a:srgbClr val="331B0D"/>
                </a:solidFill>
                <a:latin typeface="Be Vietnam"/>
                <a:ea typeface="Be Vietnam"/>
                <a:cs typeface="Be Vietnam"/>
                <a:sym typeface="Be Vietnam"/>
              </a:rPr>
              <a:t> </a:t>
            </a:r>
            <a:r>
              <a:rPr lang="en-US" sz="3500" dirty="0" err="1">
                <a:solidFill>
                  <a:srgbClr val="331B0D"/>
                </a:solidFill>
                <a:latin typeface="Be Vietnam"/>
                <a:ea typeface="Be Vietnam"/>
                <a:cs typeface="Be Vietnam"/>
                <a:sym typeface="Be Vietnam"/>
              </a:rPr>
              <a:t>chuyển</a:t>
            </a:r>
            <a:r>
              <a:rPr lang="en-US" sz="3500" dirty="0">
                <a:solidFill>
                  <a:srgbClr val="331B0D"/>
                </a:solidFill>
                <a:latin typeface="Be Vietnam"/>
                <a:ea typeface="Be Vietnam"/>
                <a:cs typeface="Be Vietnam"/>
                <a:sym typeface="Be Vietnam"/>
              </a:rPr>
              <a:t> sang </a:t>
            </a:r>
            <a:r>
              <a:rPr lang="en-US" sz="3500" dirty="0" err="1">
                <a:solidFill>
                  <a:srgbClr val="331B0D"/>
                </a:solidFill>
                <a:latin typeface="Be Vietnam"/>
                <a:ea typeface="Be Vietnam"/>
                <a:cs typeface="Be Vietnam"/>
                <a:sym typeface="Be Vietnam"/>
              </a:rPr>
              <a:t>tầng</a:t>
            </a:r>
            <a:r>
              <a:rPr lang="en-US" sz="3500" dirty="0">
                <a:solidFill>
                  <a:srgbClr val="331B0D"/>
                </a:solidFill>
                <a:latin typeface="Be Vietnam"/>
                <a:ea typeface="Be Vietnam"/>
                <a:cs typeface="Be Vietnam"/>
                <a:sym typeface="Be Vietnam"/>
              </a:rPr>
              <a:t> 2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6483350"/>
            <a:ext cx="8590211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00"/>
              </a:lnSpc>
              <a:spcBef>
                <a:spcPct val="0"/>
              </a:spcBef>
            </a:pPr>
            <a:r>
              <a:rPr lang="en-US" sz="3500">
                <a:solidFill>
                  <a:srgbClr val="331B0D"/>
                </a:solidFill>
                <a:latin typeface="Be Vietnam"/>
                <a:ea typeface="Be Vietnam"/>
                <a:cs typeface="Be Vietnam"/>
                <a:sym typeface="Be Vietnam"/>
              </a:rPr>
              <a:t>Bước 4: Khi đến tầng 6 thì quay lại tầng 1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66800" y="9809813"/>
            <a:ext cx="2055316" cy="264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39"/>
              </a:lnSpc>
              <a:spcBef>
                <a:spcPct val="0"/>
              </a:spcBef>
            </a:pPr>
            <a:r>
              <a:rPr lang="en-US" sz="1599" spc="159">
                <a:solidFill>
                  <a:srgbClr val="000000">
                    <a:alpha val="49804"/>
                  </a:srgbClr>
                </a:solidFill>
                <a:latin typeface="Be Vietnam"/>
                <a:ea typeface="Be Vietnam"/>
                <a:cs typeface="Be Vietnam"/>
                <a:sym typeface="Be Vietnam"/>
              </a:rPr>
              <a:t>LED CUBE NHÓM 5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91903" y="514860"/>
            <a:ext cx="5655112" cy="650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99"/>
              </a:lnSpc>
            </a:pPr>
            <a:r>
              <a:rPr lang="en-US" sz="4999" b="1" spc="-299">
                <a:solidFill>
                  <a:srgbClr val="331B0D"/>
                </a:solidFill>
                <a:latin typeface="K2D Bold"/>
                <a:ea typeface="K2D Bold"/>
                <a:cs typeface="K2D Bold"/>
                <a:sym typeface="K2D Bold"/>
              </a:rPr>
              <a:t>Nguyên Lý Hoạt Động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66800" y="1573414"/>
            <a:ext cx="5655112" cy="6502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dirty="0">
                <a:solidFill>
                  <a:srgbClr val="331B0D"/>
                </a:solidFill>
                <a:latin typeface="Be Vietnam"/>
                <a:ea typeface="Be Vietnam"/>
                <a:cs typeface="Be Vietnam"/>
                <a:sym typeface="Be Vietnam"/>
              </a:rPr>
              <a:t>4.Thuật </a:t>
            </a:r>
            <a:r>
              <a:rPr lang="en-US" sz="3999" dirty="0" err="1">
                <a:solidFill>
                  <a:srgbClr val="331B0D"/>
                </a:solidFill>
                <a:latin typeface="Be Vietnam"/>
                <a:ea typeface="Be Vietnam"/>
                <a:cs typeface="Be Vietnam"/>
                <a:sym typeface="Be Vietnam"/>
              </a:rPr>
              <a:t>toán</a:t>
            </a:r>
            <a:r>
              <a:rPr lang="en-US" sz="3999" dirty="0">
                <a:solidFill>
                  <a:srgbClr val="331B0D"/>
                </a:solidFill>
                <a:latin typeface="Be Vietnam"/>
                <a:ea typeface="Be Vietnam"/>
                <a:cs typeface="Be Vietnam"/>
                <a:sym typeface="Be Vietnam"/>
              </a:rPr>
              <a:t> </a:t>
            </a:r>
            <a:r>
              <a:rPr lang="en-US" sz="3999" dirty="0" err="1">
                <a:solidFill>
                  <a:srgbClr val="331B0D"/>
                </a:solidFill>
                <a:latin typeface="Be Vietnam"/>
                <a:ea typeface="Be Vietnam"/>
                <a:cs typeface="Be Vietnam"/>
                <a:sym typeface="Be Vietnam"/>
              </a:rPr>
              <a:t>quét</a:t>
            </a:r>
            <a:r>
              <a:rPr lang="en-US" sz="3999" dirty="0">
                <a:solidFill>
                  <a:srgbClr val="331B0D"/>
                </a:solidFill>
                <a:latin typeface="Be Vietnam"/>
                <a:ea typeface="Be Vietnam"/>
                <a:cs typeface="Be Vietnam"/>
                <a:sym typeface="Be Vietnam"/>
              </a:rPr>
              <a:t> LED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429799" y="8267700"/>
            <a:ext cx="6639001" cy="3334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599"/>
              </a:lnSpc>
              <a:spcBef>
                <a:spcPct val="0"/>
              </a:spcBef>
            </a:pPr>
            <a:r>
              <a:rPr lang="en-US" sz="2599" i="1" spc="259" dirty="0" err="1">
                <a:solidFill>
                  <a:srgbClr val="000000"/>
                </a:solidFill>
                <a:latin typeface="Be Vietnam Italics"/>
                <a:ea typeface="Be Vietnam Italics"/>
                <a:cs typeface="Be Vietnam Italics"/>
                <a:sym typeface="Be Vietnam Italics"/>
              </a:rPr>
              <a:t>Hình</a:t>
            </a:r>
            <a:r>
              <a:rPr lang="en-US" sz="2599" i="1" spc="259" dirty="0">
                <a:solidFill>
                  <a:srgbClr val="000000"/>
                </a:solidFill>
                <a:latin typeface="Be Vietnam Italics"/>
                <a:ea typeface="Be Vietnam Italics"/>
                <a:cs typeface="Be Vietnam Italics"/>
                <a:sym typeface="Be Vietnam Italics"/>
              </a:rPr>
              <a:t> 4: </a:t>
            </a:r>
            <a:r>
              <a:rPr lang="en-US" sz="2599" i="1" spc="259" dirty="0" err="1">
                <a:solidFill>
                  <a:srgbClr val="000000"/>
                </a:solidFill>
                <a:latin typeface="Be Vietnam Italics"/>
                <a:ea typeface="Be Vietnam Italics"/>
                <a:cs typeface="Be Vietnam Italics"/>
                <a:sym typeface="Be Vietnam Italics"/>
              </a:rPr>
              <a:t>Hệ</a:t>
            </a:r>
            <a:r>
              <a:rPr lang="en-US" sz="2599" i="1" spc="259" dirty="0">
                <a:solidFill>
                  <a:srgbClr val="000000"/>
                </a:solidFill>
                <a:latin typeface="Be Vietnam Italics"/>
                <a:ea typeface="Be Vietnam Italics"/>
                <a:cs typeface="Be Vietnam Italics"/>
                <a:sym typeface="Be Vietnam Italics"/>
              </a:rPr>
              <a:t> </a:t>
            </a:r>
            <a:r>
              <a:rPr lang="en-US" sz="2599" i="1" spc="259" dirty="0" err="1">
                <a:solidFill>
                  <a:srgbClr val="000000"/>
                </a:solidFill>
                <a:latin typeface="Be Vietnam Italics"/>
                <a:ea typeface="Be Vietnam Italics"/>
                <a:cs typeface="Be Vietnam Italics"/>
                <a:sym typeface="Be Vietnam Italics"/>
              </a:rPr>
              <a:t>trục</a:t>
            </a:r>
            <a:r>
              <a:rPr lang="en-US" sz="2599" i="1" spc="259" dirty="0">
                <a:solidFill>
                  <a:srgbClr val="000000"/>
                </a:solidFill>
                <a:latin typeface="Be Vietnam Italics"/>
                <a:ea typeface="Be Vietnam Italics"/>
                <a:cs typeface="Be Vietnam Italics"/>
                <a:sym typeface="Be Vietnam Italics"/>
              </a:rPr>
              <a:t> </a:t>
            </a:r>
            <a:r>
              <a:rPr lang="en-US" sz="2599" i="1" spc="259" dirty="0" err="1">
                <a:solidFill>
                  <a:srgbClr val="000000"/>
                </a:solidFill>
                <a:latin typeface="Be Vietnam Italics"/>
                <a:ea typeface="Be Vietnam Italics"/>
                <a:cs typeface="Be Vietnam Italics"/>
                <a:sym typeface="Be Vietnam Italics"/>
              </a:rPr>
              <a:t>tọa</a:t>
            </a:r>
            <a:r>
              <a:rPr lang="en-US" sz="2599" i="1" spc="259" dirty="0">
                <a:solidFill>
                  <a:srgbClr val="000000"/>
                </a:solidFill>
                <a:latin typeface="Be Vietnam Italics"/>
                <a:ea typeface="Be Vietnam Italics"/>
                <a:cs typeface="Be Vietnam Italics"/>
                <a:sym typeface="Be Vietnam Italics"/>
              </a:rPr>
              <a:t> </a:t>
            </a:r>
            <a:r>
              <a:rPr lang="en-US" sz="2599" i="1" spc="259" dirty="0" err="1">
                <a:solidFill>
                  <a:srgbClr val="000000"/>
                </a:solidFill>
                <a:latin typeface="Be Vietnam Italics"/>
                <a:ea typeface="Be Vietnam Italics"/>
                <a:cs typeface="Be Vietnam Italics"/>
                <a:sym typeface="Be Vietnam Italics"/>
              </a:rPr>
              <a:t>độ</a:t>
            </a:r>
            <a:r>
              <a:rPr lang="en-US" sz="2599" i="1" spc="259" dirty="0">
                <a:solidFill>
                  <a:srgbClr val="000000"/>
                </a:solidFill>
                <a:latin typeface="Be Vietnam Italics"/>
                <a:ea typeface="Be Vietnam Italics"/>
                <a:cs typeface="Be Vietnam Italics"/>
                <a:sym typeface="Be Vietnam Italics"/>
              </a:rPr>
              <a:t> </a:t>
            </a:r>
            <a:r>
              <a:rPr lang="en-US" sz="2599" i="1" spc="259" dirty="0" err="1">
                <a:solidFill>
                  <a:srgbClr val="000000"/>
                </a:solidFill>
                <a:latin typeface="Be Vietnam Italics"/>
                <a:ea typeface="Be Vietnam Italics"/>
                <a:cs typeface="Be Vietnam Italics"/>
                <a:sym typeface="Be Vietnam Italics"/>
              </a:rPr>
              <a:t>của</a:t>
            </a:r>
            <a:r>
              <a:rPr lang="en-US" sz="2599" i="1" spc="259" dirty="0">
                <a:solidFill>
                  <a:srgbClr val="000000"/>
                </a:solidFill>
                <a:latin typeface="Be Vietnam Italics"/>
                <a:ea typeface="Be Vietnam Italics"/>
                <a:cs typeface="Be Vietnam Italics"/>
                <a:sym typeface="Be Vietnam Italics"/>
              </a:rPr>
              <a:t> </a:t>
            </a:r>
            <a:r>
              <a:rPr lang="en-US" sz="2599" i="1" spc="259" dirty="0" err="1">
                <a:solidFill>
                  <a:srgbClr val="000000"/>
                </a:solidFill>
                <a:latin typeface="Be Vietnam Italics"/>
                <a:ea typeface="Be Vietnam Italics"/>
                <a:cs typeface="Be Vietnam Italics"/>
                <a:sym typeface="Be Vietnam Italics"/>
              </a:rPr>
              <a:t>khối</a:t>
            </a:r>
            <a:r>
              <a:rPr lang="en-US" sz="2599" i="1" spc="259" dirty="0">
                <a:solidFill>
                  <a:srgbClr val="000000"/>
                </a:solidFill>
                <a:latin typeface="Be Vietnam Italics"/>
                <a:ea typeface="Be Vietnam Italics"/>
                <a:cs typeface="Be Vietnam Italics"/>
                <a:sym typeface="Be Vietnam Italics"/>
              </a:rPr>
              <a:t> LED</a:t>
            </a:r>
          </a:p>
        </p:txBody>
      </p:sp>
    </p:spTree>
  </p:cSld>
  <p:clrMapOvr>
    <a:masterClrMapping/>
  </p:clrMapOvr>
  <p:transition spd="slow">
    <p:push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352800" y="3046015"/>
            <a:ext cx="11396365" cy="21922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7975"/>
              </a:lnSpc>
              <a:spcBef>
                <a:spcPct val="0"/>
              </a:spcBef>
            </a:pPr>
            <a:r>
              <a:rPr lang="en-US" sz="12839" b="1" dirty="0" err="1">
                <a:solidFill>
                  <a:srgbClr val="000000"/>
                </a:solidFill>
                <a:latin typeface="Dancing Script Bold"/>
                <a:ea typeface="Dancing Script Bold"/>
                <a:cs typeface="Dancing Script Bold"/>
                <a:sym typeface="Dancing Script Bold"/>
              </a:rPr>
              <a:t>Cấu</a:t>
            </a:r>
            <a:r>
              <a:rPr lang="en-US" sz="12839" b="1" dirty="0">
                <a:solidFill>
                  <a:srgbClr val="000000"/>
                </a:solidFill>
                <a:latin typeface="Dancing Script Bold"/>
                <a:ea typeface="Dancing Script Bold"/>
                <a:cs typeface="Dancing Script Bold"/>
                <a:sym typeface="Dancing Script Bold"/>
              </a:rPr>
              <a:t> </a:t>
            </a:r>
            <a:r>
              <a:rPr lang="en-US" sz="12839" b="1" dirty="0" err="1">
                <a:solidFill>
                  <a:srgbClr val="000000"/>
                </a:solidFill>
                <a:latin typeface="Dancing Script Bold"/>
                <a:ea typeface="Dancing Script Bold"/>
                <a:cs typeface="Dancing Script Bold"/>
                <a:sym typeface="Dancing Script Bold"/>
              </a:rPr>
              <a:t>tạo</a:t>
            </a:r>
            <a:r>
              <a:rPr lang="en-US" sz="12839" b="1" dirty="0">
                <a:solidFill>
                  <a:srgbClr val="000000"/>
                </a:solidFill>
                <a:latin typeface="Dancing Script Bold"/>
                <a:ea typeface="Dancing Script Bold"/>
                <a:cs typeface="Dancing Script Bold"/>
                <a:sym typeface="Dancing Script Bold"/>
              </a:rPr>
              <a:t> LED Cube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66800" y="9809813"/>
            <a:ext cx="2055316" cy="264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39"/>
              </a:lnSpc>
              <a:spcBef>
                <a:spcPct val="0"/>
              </a:spcBef>
            </a:pPr>
            <a:r>
              <a:rPr lang="en-US" sz="1599" spc="159">
                <a:solidFill>
                  <a:srgbClr val="000000">
                    <a:alpha val="49804"/>
                  </a:srgbClr>
                </a:solidFill>
                <a:latin typeface="Be Vietnam"/>
                <a:ea typeface="Be Vietnam"/>
                <a:cs typeface="Be Vietnam"/>
                <a:sym typeface="Be Vietnam"/>
              </a:rPr>
              <a:t>LED CUBE NHÓM 5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570035" y="5687564"/>
            <a:ext cx="9374565" cy="11017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099"/>
              </a:lnSpc>
              <a:spcBef>
                <a:spcPct val="0"/>
              </a:spcBef>
            </a:pPr>
            <a:r>
              <a:rPr lang="en-US" sz="6499" dirty="0">
                <a:solidFill>
                  <a:srgbClr val="000000"/>
                </a:solidFill>
                <a:latin typeface="K2D"/>
                <a:ea typeface="K2D"/>
                <a:cs typeface="K2D"/>
                <a:sym typeface="K2D"/>
              </a:rPr>
              <a:t>- </a:t>
            </a:r>
            <a:r>
              <a:rPr lang="en-US" sz="6499" dirty="0" err="1">
                <a:solidFill>
                  <a:srgbClr val="000000"/>
                </a:solidFill>
                <a:latin typeface="K2D"/>
                <a:ea typeface="K2D"/>
                <a:cs typeface="K2D"/>
                <a:sym typeface="K2D"/>
              </a:rPr>
              <a:t>Thiết</a:t>
            </a:r>
            <a:r>
              <a:rPr lang="en-US" sz="6499" dirty="0">
                <a:solidFill>
                  <a:srgbClr val="000000"/>
                </a:solidFill>
                <a:latin typeface="K2D"/>
                <a:ea typeface="K2D"/>
                <a:cs typeface="K2D"/>
                <a:sym typeface="K2D"/>
              </a:rPr>
              <a:t> </a:t>
            </a:r>
            <a:r>
              <a:rPr lang="en-US" sz="6499" dirty="0" err="1">
                <a:solidFill>
                  <a:srgbClr val="000000"/>
                </a:solidFill>
                <a:latin typeface="K2D"/>
                <a:ea typeface="K2D"/>
                <a:cs typeface="K2D"/>
                <a:sym typeface="K2D"/>
              </a:rPr>
              <a:t>kế</a:t>
            </a:r>
            <a:r>
              <a:rPr lang="en-US" sz="6499" dirty="0">
                <a:solidFill>
                  <a:srgbClr val="000000"/>
                </a:solidFill>
                <a:latin typeface="K2D"/>
                <a:ea typeface="K2D"/>
                <a:cs typeface="K2D"/>
                <a:sym typeface="K2D"/>
              </a:rPr>
              <a:t> </a:t>
            </a:r>
            <a:r>
              <a:rPr lang="en-US" sz="6499" dirty="0" err="1">
                <a:solidFill>
                  <a:srgbClr val="000000"/>
                </a:solidFill>
                <a:latin typeface="K2D"/>
                <a:ea typeface="K2D"/>
                <a:cs typeface="K2D"/>
                <a:sym typeface="K2D"/>
              </a:rPr>
              <a:t>và</a:t>
            </a:r>
            <a:r>
              <a:rPr lang="en-US" sz="6499" dirty="0">
                <a:solidFill>
                  <a:srgbClr val="000000"/>
                </a:solidFill>
                <a:latin typeface="K2D"/>
                <a:ea typeface="K2D"/>
                <a:cs typeface="K2D"/>
                <a:sym typeface="K2D"/>
              </a:rPr>
              <a:t> </a:t>
            </a:r>
            <a:r>
              <a:rPr lang="en-US" sz="6499" dirty="0" err="1">
                <a:solidFill>
                  <a:srgbClr val="000000"/>
                </a:solidFill>
                <a:latin typeface="K2D"/>
                <a:ea typeface="K2D"/>
                <a:cs typeface="K2D"/>
                <a:sym typeface="K2D"/>
              </a:rPr>
              <a:t>mạch</a:t>
            </a:r>
            <a:r>
              <a:rPr lang="en-US" sz="6499" dirty="0">
                <a:solidFill>
                  <a:srgbClr val="000000"/>
                </a:solidFill>
                <a:latin typeface="K2D"/>
                <a:ea typeface="K2D"/>
                <a:cs typeface="K2D"/>
                <a:sym typeface="K2D"/>
              </a:rPr>
              <a:t> </a:t>
            </a:r>
            <a:r>
              <a:rPr lang="en-US" sz="6499" dirty="0" err="1">
                <a:solidFill>
                  <a:srgbClr val="000000"/>
                </a:solidFill>
                <a:latin typeface="K2D"/>
                <a:ea typeface="K2D"/>
                <a:cs typeface="K2D"/>
                <a:sym typeface="K2D"/>
              </a:rPr>
              <a:t>điện</a:t>
            </a:r>
            <a:r>
              <a:rPr lang="en-US" sz="6499" dirty="0">
                <a:solidFill>
                  <a:srgbClr val="000000"/>
                </a:solidFill>
                <a:latin typeface="K2D"/>
                <a:ea typeface="K2D"/>
                <a:cs typeface="K2D"/>
                <a:sym typeface="K2D"/>
              </a:rPr>
              <a:t> -</a:t>
            </a:r>
          </a:p>
        </p:txBody>
      </p:sp>
    </p:spTree>
  </p:cSld>
  <p:clrMapOvr>
    <a:masterClrMapping/>
  </p:clrMapOvr>
  <p:transition spd="slow">
    <p:push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835908" y="1028700"/>
            <a:ext cx="10616184" cy="8229600"/>
          </a:xfrm>
          <a:custGeom>
            <a:avLst/>
            <a:gdLst/>
            <a:ahLst/>
            <a:cxnLst/>
            <a:rect l="l" t="t" r="r" b="b"/>
            <a:pathLst>
              <a:path w="10616184" h="8229600">
                <a:moveTo>
                  <a:pt x="0" y="0"/>
                </a:moveTo>
                <a:lnTo>
                  <a:pt x="10616184" y="0"/>
                </a:lnTo>
                <a:lnTo>
                  <a:pt x="10616184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001"/>
          </a:p>
        </p:txBody>
      </p:sp>
    </p:spTree>
  </p:cSld>
  <p:clrMapOvr>
    <a:masterClrMapping/>
  </p:clrMapOvr>
  <p:transition spd="slow">
    <p:push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4448212" y="3262968"/>
            <a:ext cx="3773714" cy="3724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dirty="0" err="1">
                <a:solidFill>
                  <a:srgbClr val="331B0D"/>
                </a:solidFill>
                <a:latin typeface="Be Vietnam"/>
                <a:ea typeface="Be Vietnam"/>
                <a:cs typeface="Be Vietnam"/>
                <a:sym typeface="Be Vietnam"/>
              </a:rPr>
              <a:t>Mạch</a:t>
            </a:r>
            <a:r>
              <a:rPr lang="en-US" sz="3000" dirty="0">
                <a:solidFill>
                  <a:srgbClr val="331B0D"/>
                </a:solidFill>
                <a:latin typeface="Be Vietnam"/>
                <a:ea typeface="Be Vietnam"/>
                <a:cs typeface="Be Vietnam"/>
                <a:sym typeface="Be Vietnam"/>
              </a:rPr>
              <a:t> </a:t>
            </a:r>
            <a:r>
              <a:rPr lang="en-US" sz="3000" dirty="0" err="1">
                <a:solidFill>
                  <a:srgbClr val="331B0D"/>
                </a:solidFill>
                <a:latin typeface="Be Vietnam"/>
                <a:ea typeface="Be Vietnam"/>
                <a:cs typeface="Be Vietnam"/>
                <a:sym typeface="Be Vietnam"/>
              </a:rPr>
              <a:t>được</a:t>
            </a:r>
            <a:r>
              <a:rPr lang="en-US" sz="3000" dirty="0">
                <a:solidFill>
                  <a:srgbClr val="331B0D"/>
                </a:solidFill>
                <a:latin typeface="Be Vietnam"/>
                <a:ea typeface="Be Vietnam"/>
                <a:cs typeface="Be Vietnam"/>
                <a:sym typeface="Be Vietnam"/>
              </a:rPr>
              <a:t> </a:t>
            </a:r>
            <a:r>
              <a:rPr lang="en-US" sz="3000" dirty="0" err="1">
                <a:solidFill>
                  <a:srgbClr val="331B0D"/>
                </a:solidFill>
                <a:latin typeface="Be Vietnam"/>
                <a:ea typeface="Be Vietnam"/>
                <a:cs typeface="Be Vietnam"/>
                <a:sym typeface="Be Vietnam"/>
              </a:rPr>
              <a:t>thiết</a:t>
            </a:r>
            <a:r>
              <a:rPr lang="en-US" sz="3000" dirty="0">
                <a:solidFill>
                  <a:srgbClr val="331B0D"/>
                </a:solidFill>
                <a:latin typeface="Be Vietnam"/>
                <a:ea typeface="Be Vietnam"/>
                <a:cs typeface="Be Vietnam"/>
                <a:sym typeface="Be Vietnam"/>
              </a:rPr>
              <a:t> </a:t>
            </a:r>
            <a:r>
              <a:rPr lang="en-US" sz="3000" dirty="0" err="1">
                <a:solidFill>
                  <a:srgbClr val="331B0D"/>
                </a:solidFill>
                <a:latin typeface="Be Vietnam"/>
                <a:ea typeface="Be Vietnam"/>
                <a:cs typeface="Be Vietnam"/>
                <a:sym typeface="Be Vietnam"/>
              </a:rPr>
              <a:t>kế</a:t>
            </a:r>
            <a:r>
              <a:rPr lang="en-US" sz="3000" dirty="0">
                <a:solidFill>
                  <a:srgbClr val="331B0D"/>
                </a:solidFill>
                <a:latin typeface="Be Vietnam"/>
                <a:ea typeface="Be Vietnam"/>
                <a:cs typeface="Be Vietnam"/>
                <a:sym typeface="Be Vietnam"/>
              </a:rPr>
              <a:t> </a:t>
            </a:r>
            <a:r>
              <a:rPr lang="en-US" sz="3000" dirty="0" err="1">
                <a:solidFill>
                  <a:srgbClr val="331B0D"/>
                </a:solidFill>
                <a:latin typeface="Be Vietnam"/>
                <a:ea typeface="Be Vietnam"/>
                <a:cs typeface="Be Vietnam"/>
                <a:sym typeface="Be Vietnam"/>
              </a:rPr>
              <a:t>gồm</a:t>
            </a:r>
            <a:r>
              <a:rPr lang="en-US" sz="3000" dirty="0">
                <a:solidFill>
                  <a:srgbClr val="331B0D"/>
                </a:solidFill>
                <a:latin typeface="Be Vietnam"/>
                <a:ea typeface="Be Vietnam"/>
                <a:cs typeface="Be Vietnam"/>
                <a:sym typeface="Be Vietnam"/>
              </a:rPr>
              <a:t> 4 </a:t>
            </a:r>
            <a:r>
              <a:rPr lang="en-US" sz="3000" dirty="0" err="1">
                <a:solidFill>
                  <a:srgbClr val="331B0D"/>
                </a:solidFill>
                <a:latin typeface="Be Vietnam"/>
                <a:ea typeface="Be Vietnam"/>
                <a:cs typeface="Be Vietnam"/>
                <a:sym typeface="Be Vietnam"/>
              </a:rPr>
              <a:t>khối</a:t>
            </a:r>
            <a:r>
              <a:rPr lang="en-US" sz="3000" dirty="0">
                <a:solidFill>
                  <a:srgbClr val="331B0D"/>
                </a:solidFill>
                <a:latin typeface="Be Vietnam"/>
                <a:ea typeface="Be Vietnam"/>
                <a:cs typeface="Be Vietnam"/>
                <a:sym typeface="Be Vietnam"/>
              </a:rPr>
              <a:t> </a:t>
            </a:r>
            <a:r>
              <a:rPr lang="en-US" sz="3000" dirty="0" err="1">
                <a:solidFill>
                  <a:srgbClr val="331B0D"/>
                </a:solidFill>
                <a:latin typeface="Be Vietnam"/>
                <a:ea typeface="Be Vietnam"/>
                <a:cs typeface="Be Vietnam"/>
                <a:sym typeface="Be Vietnam"/>
              </a:rPr>
              <a:t>chính</a:t>
            </a:r>
            <a:r>
              <a:rPr lang="en-US" sz="3000" dirty="0">
                <a:solidFill>
                  <a:srgbClr val="331B0D"/>
                </a:solidFill>
                <a:latin typeface="Be Vietnam"/>
                <a:ea typeface="Be Vietnam"/>
                <a:cs typeface="Be Vietnam"/>
                <a:sym typeface="Be Vietnam"/>
              </a:rPr>
              <a:t>: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 dirty="0" err="1">
                <a:solidFill>
                  <a:srgbClr val="331B0D"/>
                </a:solidFill>
                <a:latin typeface="Be Vietnam"/>
                <a:ea typeface="Be Vietnam"/>
                <a:cs typeface="Be Vietnam"/>
                <a:sym typeface="Be Vietnam"/>
              </a:rPr>
              <a:t>Khối</a:t>
            </a:r>
            <a:r>
              <a:rPr lang="en-US" sz="3000" dirty="0">
                <a:solidFill>
                  <a:srgbClr val="331B0D"/>
                </a:solidFill>
                <a:latin typeface="Be Vietnam"/>
                <a:ea typeface="Be Vietnam"/>
                <a:cs typeface="Be Vietnam"/>
                <a:sym typeface="Be Vietnam"/>
              </a:rPr>
              <a:t> </a:t>
            </a:r>
            <a:r>
              <a:rPr lang="en-US" sz="3000" dirty="0" err="1">
                <a:solidFill>
                  <a:srgbClr val="331B0D"/>
                </a:solidFill>
                <a:latin typeface="Be Vietnam"/>
                <a:ea typeface="Be Vietnam"/>
                <a:cs typeface="Be Vietnam"/>
                <a:sym typeface="Be Vietnam"/>
              </a:rPr>
              <a:t>điều</a:t>
            </a:r>
            <a:r>
              <a:rPr lang="en-US" sz="3000" dirty="0">
                <a:solidFill>
                  <a:srgbClr val="331B0D"/>
                </a:solidFill>
                <a:latin typeface="Be Vietnam"/>
                <a:ea typeface="Be Vietnam"/>
                <a:cs typeface="Be Vietnam"/>
                <a:sym typeface="Be Vietnam"/>
              </a:rPr>
              <a:t> </a:t>
            </a:r>
            <a:r>
              <a:rPr lang="en-US" sz="3000" dirty="0" err="1">
                <a:solidFill>
                  <a:srgbClr val="331B0D"/>
                </a:solidFill>
                <a:latin typeface="Be Vietnam"/>
                <a:ea typeface="Be Vietnam"/>
                <a:cs typeface="Be Vietnam"/>
                <a:sym typeface="Be Vietnam"/>
              </a:rPr>
              <a:t>khiển</a:t>
            </a:r>
            <a:endParaRPr lang="en-US" sz="3000" dirty="0">
              <a:solidFill>
                <a:srgbClr val="331B0D"/>
              </a:solidFill>
              <a:latin typeface="Be Vietnam"/>
              <a:ea typeface="Be Vietnam"/>
              <a:cs typeface="Be Vietnam"/>
              <a:sym typeface="Be Vietnam"/>
            </a:endParaRP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 dirty="0" err="1">
                <a:solidFill>
                  <a:srgbClr val="331B0D"/>
                </a:solidFill>
                <a:latin typeface="Be Vietnam"/>
                <a:ea typeface="Be Vietnam"/>
                <a:cs typeface="Be Vietnam"/>
                <a:sym typeface="Be Vietnam"/>
              </a:rPr>
              <a:t>Khối</a:t>
            </a:r>
            <a:r>
              <a:rPr lang="en-US" sz="3000" dirty="0">
                <a:solidFill>
                  <a:srgbClr val="331B0D"/>
                </a:solidFill>
                <a:latin typeface="Be Vietnam"/>
                <a:ea typeface="Be Vietnam"/>
                <a:cs typeface="Be Vietnam"/>
                <a:sym typeface="Be Vietnam"/>
              </a:rPr>
              <a:t> </a:t>
            </a:r>
            <a:r>
              <a:rPr lang="en-US" sz="3000" dirty="0" err="1">
                <a:solidFill>
                  <a:srgbClr val="331B0D"/>
                </a:solidFill>
                <a:latin typeface="Be Vietnam"/>
                <a:ea typeface="Be Vietnam"/>
                <a:cs typeface="Be Vietnam"/>
                <a:sym typeface="Be Vietnam"/>
              </a:rPr>
              <a:t>chuyển</a:t>
            </a:r>
            <a:r>
              <a:rPr lang="en-US" sz="3000" dirty="0">
                <a:solidFill>
                  <a:srgbClr val="331B0D"/>
                </a:solidFill>
                <a:latin typeface="Be Vietnam"/>
                <a:ea typeface="Be Vietnam"/>
                <a:cs typeface="Be Vietnam"/>
                <a:sym typeface="Be Vietnam"/>
              </a:rPr>
              <a:t> </a:t>
            </a:r>
            <a:r>
              <a:rPr lang="en-US" sz="3000" dirty="0" err="1">
                <a:solidFill>
                  <a:srgbClr val="331B0D"/>
                </a:solidFill>
                <a:latin typeface="Be Vietnam"/>
                <a:ea typeface="Be Vietnam"/>
                <a:cs typeface="Be Vietnam"/>
                <a:sym typeface="Be Vietnam"/>
              </a:rPr>
              <a:t>đổi</a:t>
            </a:r>
            <a:r>
              <a:rPr lang="en-US" sz="3000" dirty="0">
                <a:solidFill>
                  <a:srgbClr val="331B0D"/>
                </a:solidFill>
                <a:latin typeface="Be Vietnam"/>
                <a:ea typeface="Be Vietnam"/>
                <a:cs typeface="Be Vietnam"/>
                <a:sym typeface="Be Vietnam"/>
              </a:rPr>
              <a:t> </a:t>
            </a:r>
            <a:r>
              <a:rPr lang="en-US" sz="3000" dirty="0" err="1">
                <a:solidFill>
                  <a:srgbClr val="331B0D"/>
                </a:solidFill>
                <a:latin typeface="Be Vietnam"/>
                <a:ea typeface="Be Vietnam"/>
                <a:cs typeface="Be Vietnam"/>
                <a:sym typeface="Be Vietnam"/>
              </a:rPr>
              <a:t>tín</a:t>
            </a:r>
            <a:r>
              <a:rPr lang="en-US" sz="3000" dirty="0">
                <a:solidFill>
                  <a:srgbClr val="331B0D"/>
                </a:solidFill>
                <a:latin typeface="Be Vietnam"/>
                <a:ea typeface="Be Vietnam"/>
                <a:cs typeface="Be Vietnam"/>
                <a:sym typeface="Be Vietnam"/>
              </a:rPr>
              <a:t> </a:t>
            </a:r>
            <a:r>
              <a:rPr lang="en-US" sz="3000" dirty="0" err="1">
                <a:solidFill>
                  <a:srgbClr val="331B0D"/>
                </a:solidFill>
                <a:latin typeface="Be Vietnam"/>
                <a:ea typeface="Be Vietnam"/>
                <a:cs typeface="Be Vietnam"/>
                <a:sym typeface="Be Vietnam"/>
              </a:rPr>
              <a:t>hiệu</a:t>
            </a:r>
            <a:endParaRPr lang="en-US" sz="3000" dirty="0">
              <a:solidFill>
                <a:srgbClr val="331B0D"/>
              </a:solidFill>
              <a:latin typeface="Be Vietnam"/>
              <a:ea typeface="Be Vietnam"/>
              <a:cs typeface="Be Vietnam"/>
              <a:sym typeface="Be Vietnam"/>
            </a:endParaRP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 dirty="0" err="1">
                <a:solidFill>
                  <a:srgbClr val="331B0D"/>
                </a:solidFill>
                <a:latin typeface="Be Vietnam"/>
                <a:ea typeface="Be Vietnam"/>
                <a:cs typeface="Be Vietnam"/>
                <a:sym typeface="Be Vietnam"/>
              </a:rPr>
              <a:t>Khối</a:t>
            </a:r>
            <a:r>
              <a:rPr lang="en-US" sz="3000" dirty="0">
                <a:solidFill>
                  <a:srgbClr val="331B0D"/>
                </a:solidFill>
                <a:latin typeface="Be Vietnam"/>
                <a:ea typeface="Be Vietnam"/>
                <a:cs typeface="Be Vietnam"/>
                <a:sym typeface="Be Vietnam"/>
              </a:rPr>
              <a:t> source </a:t>
            </a:r>
            <a:r>
              <a:rPr lang="en-US" sz="3000" dirty="0" err="1">
                <a:solidFill>
                  <a:srgbClr val="331B0D"/>
                </a:solidFill>
                <a:latin typeface="Be Vietnam"/>
                <a:ea typeface="Be Vietnam"/>
                <a:cs typeface="Be Vietnam"/>
                <a:sym typeface="Be Vietnam"/>
              </a:rPr>
              <a:t>dòng</a:t>
            </a:r>
            <a:endParaRPr lang="en-US" sz="3000" dirty="0">
              <a:solidFill>
                <a:srgbClr val="331B0D"/>
              </a:solidFill>
              <a:latin typeface="Be Vietnam"/>
              <a:ea typeface="Be Vietnam"/>
              <a:cs typeface="Be Vietnam"/>
              <a:sym typeface="Be Vietnam"/>
            </a:endParaRP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 dirty="0" err="1">
                <a:solidFill>
                  <a:srgbClr val="331B0D"/>
                </a:solidFill>
                <a:latin typeface="Be Vietnam"/>
                <a:ea typeface="Be Vietnam"/>
                <a:cs typeface="Be Vietnam"/>
                <a:sym typeface="Be Vietnam"/>
              </a:rPr>
              <a:t>Khối</a:t>
            </a:r>
            <a:r>
              <a:rPr lang="en-US" sz="3000" dirty="0">
                <a:solidFill>
                  <a:srgbClr val="331B0D"/>
                </a:solidFill>
                <a:latin typeface="Be Vietnam"/>
                <a:ea typeface="Be Vietnam"/>
                <a:cs typeface="Be Vietnam"/>
                <a:sym typeface="Be Vietnam"/>
              </a:rPr>
              <a:t> sink </a:t>
            </a:r>
            <a:r>
              <a:rPr lang="en-US" sz="3000" dirty="0" err="1">
                <a:solidFill>
                  <a:srgbClr val="331B0D"/>
                </a:solidFill>
                <a:latin typeface="Be Vietnam"/>
                <a:ea typeface="Be Vietnam"/>
                <a:cs typeface="Be Vietnam"/>
                <a:sym typeface="Be Vietnam"/>
              </a:rPr>
              <a:t>dòng</a:t>
            </a:r>
            <a:endParaRPr lang="en-US" sz="3000" dirty="0">
              <a:solidFill>
                <a:srgbClr val="331B0D"/>
              </a:solidFill>
              <a:latin typeface="Be Vietnam"/>
              <a:ea typeface="Be Vietnam"/>
              <a:cs typeface="Be Vietnam"/>
              <a:sym typeface="Be Vietnam"/>
            </a:endParaRPr>
          </a:p>
        </p:txBody>
      </p:sp>
      <p:grpSp>
        <p:nvGrpSpPr>
          <p:cNvPr id="3" name="Group 3"/>
          <p:cNvGrpSpPr/>
          <p:nvPr/>
        </p:nvGrpSpPr>
        <p:grpSpPr>
          <a:xfrm>
            <a:off x="0" y="-13554"/>
            <a:ext cx="14347726" cy="10300554"/>
            <a:chOff x="0" y="0"/>
            <a:chExt cx="19130301" cy="1373407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9130301" cy="13734072"/>
            </a:xfrm>
            <a:custGeom>
              <a:avLst/>
              <a:gdLst/>
              <a:ahLst/>
              <a:cxnLst/>
              <a:rect l="l" t="t" r="r" b="b"/>
              <a:pathLst>
                <a:path w="19130301" h="13734072">
                  <a:moveTo>
                    <a:pt x="0" y="0"/>
                  </a:moveTo>
                  <a:lnTo>
                    <a:pt x="19130301" y="0"/>
                  </a:lnTo>
                  <a:lnTo>
                    <a:pt x="19130301" y="13734072"/>
                  </a:lnTo>
                  <a:lnTo>
                    <a:pt x="0" y="137340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660" r="-633"/>
              </a:stretch>
            </a:blipFill>
          </p:spPr>
          <p:txBody>
            <a:bodyPr/>
            <a:lstStyle/>
            <a:p>
              <a:endParaRPr lang="en-001"/>
            </a:p>
          </p:txBody>
        </p:sp>
        <p:sp>
          <p:nvSpPr>
            <p:cNvPr id="5" name="Freeform 5"/>
            <p:cNvSpPr/>
            <p:nvPr/>
          </p:nvSpPr>
          <p:spPr>
            <a:xfrm rot="-8354218">
              <a:off x="4317472" y="3056068"/>
              <a:ext cx="1066942" cy="351121"/>
            </a:xfrm>
            <a:custGeom>
              <a:avLst/>
              <a:gdLst/>
              <a:ahLst/>
              <a:cxnLst/>
              <a:rect l="l" t="t" r="r" b="b"/>
              <a:pathLst>
                <a:path w="1066942" h="351121">
                  <a:moveTo>
                    <a:pt x="0" y="0"/>
                  </a:moveTo>
                  <a:lnTo>
                    <a:pt x="1066942" y="0"/>
                  </a:lnTo>
                  <a:lnTo>
                    <a:pt x="1066942" y="351121"/>
                  </a:lnTo>
                  <a:lnTo>
                    <a:pt x="0" y="3511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001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4963630" y="3665296"/>
              <a:ext cx="1849379" cy="66940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83"/>
                </a:lnSpc>
                <a:spcBef>
                  <a:spcPct val="0"/>
                </a:spcBef>
              </a:pPr>
              <a:r>
                <a:rPr lang="en-US" sz="3059" b="1">
                  <a:solidFill>
                    <a:srgbClr val="331B0D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ESP32</a:t>
              </a:r>
            </a:p>
          </p:txBody>
        </p:sp>
        <p:sp>
          <p:nvSpPr>
            <p:cNvPr id="7" name="Freeform 7"/>
            <p:cNvSpPr/>
            <p:nvPr/>
          </p:nvSpPr>
          <p:spPr>
            <a:xfrm rot="-7431115" flipV="1">
              <a:off x="7858554" y="3701193"/>
              <a:ext cx="1066942" cy="351121"/>
            </a:xfrm>
            <a:custGeom>
              <a:avLst/>
              <a:gdLst/>
              <a:ahLst/>
              <a:cxnLst/>
              <a:rect l="l" t="t" r="r" b="b"/>
              <a:pathLst>
                <a:path w="1066942" h="351121">
                  <a:moveTo>
                    <a:pt x="0" y="351120"/>
                  </a:moveTo>
                  <a:lnTo>
                    <a:pt x="1066941" y="351120"/>
                  </a:lnTo>
                  <a:lnTo>
                    <a:pt x="1066941" y="0"/>
                  </a:lnTo>
                  <a:lnTo>
                    <a:pt x="0" y="0"/>
                  </a:lnTo>
                  <a:lnTo>
                    <a:pt x="0" y="35112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001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443577" y="4174812"/>
              <a:ext cx="2457148" cy="66940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4283"/>
                </a:lnSpc>
                <a:spcBef>
                  <a:spcPct val="0"/>
                </a:spcBef>
              </a:pPr>
              <a:r>
                <a:rPr lang="en-US" sz="3059" b="1" dirty="0">
                  <a:solidFill>
                    <a:srgbClr val="331B0D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IC Buffer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076039" y="231568"/>
              <a:ext cx="2047395" cy="13948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283"/>
                </a:lnSpc>
                <a:spcBef>
                  <a:spcPct val="0"/>
                </a:spcBef>
              </a:pPr>
              <a:r>
                <a:rPr lang="en-US" sz="3059" b="1" dirty="0" err="1">
                  <a:solidFill>
                    <a:srgbClr val="331B0D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Điện</a:t>
              </a:r>
              <a:r>
                <a:rPr lang="en-US" sz="3059" b="1" dirty="0">
                  <a:solidFill>
                    <a:srgbClr val="331B0D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 </a:t>
              </a:r>
              <a:r>
                <a:rPr lang="en-US" sz="3059" b="1" dirty="0" err="1">
                  <a:solidFill>
                    <a:srgbClr val="331B0D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trở</a:t>
              </a:r>
              <a:r>
                <a:rPr lang="en-US" sz="3059" b="1" dirty="0">
                  <a:solidFill>
                    <a:srgbClr val="331B0D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 pull-up</a:t>
              </a:r>
            </a:p>
          </p:txBody>
        </p:sp>
        <p:sp>
          <p:nvSpPr>
            <p:cNvPr id="10" name="Freeform 10"/>
            <p:cNvSpPr/>
            <p:nvPr/>
          </p:nvSpPr>
          <p:spPr>
            <a:xfrm rot="1744037" flipV="1">
              <a:off x="12245166" y="568076"/>
              <a:ext cx="1066942" cy="351121"/>
            </a:xfrm>
            <a:custGeom>
              <a:avLst/>
              <a:gdLst/>
              <a:ahLst/>
              <a:cxnLst/>
              <a:rect l="l" t="t" r="r" b="b"/>
              <a:pathLst>
                <a:path w="1066942" h="351121">
                  <a:moveTo>
                    <a:pt x="0" y="351121"/>
                  </a:moveTo>
                  <a:lnTo>
                    <a:pt x="1066942" y="351121"/>
                  </a:lnTo>
                  <a:lnTo>
                    <a:pt x="1066942" y="0"/>
                  </a:lnTo>
                  <a:lnTo>
                    <a:pt x="0" y="0"/>
                  </a:lnTo>
                  <a:lnTo>
                    <a:pt x="0" y="351121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001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290365" y="3231628"/>
              <a:ext cx="2296939" cy="66940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283"/>
                </a:lnSpc>
                <a:spcBef>
                  <a:spcPct val="0"/>
                </a:spcBef>
              </a:pPr>
              <a:r>
                <a:rPr lang="en-US" sz="3059" b="1" dirty="0" err="1">
                  <a:solidFill>
                    <a:srgbClr val="331B0D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Tụ</a:t>
              </a:r>
              <a:r>
                <a:rPr lang="en-US" sz="3059" b="1" dirty="0">
                  <a:solidFill>
                    <a:srgbClr val="331B0D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 </a:t>
              </a:r>
              <a:r>
                <a:rPr lang="en-US" sz="3059" b="1" dirty="0" err="1">
                  <a:solidFill>
                    <a:srgbClr val="331B0D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nguồn</a:t>
              </a:r>
              <a:endParaRPr lang="en-US" sz="3059" b="1" dirty="0">
                <a:solidFill>
                  <a:srgbClr val="331B0D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endParaRPr>
            </a:p>
          </p:txBody>
        </p:sp>
        <p:sp>
          <p:nvSpPr>
            <p:cNvPr id="12" name="Freeform 12"/>
            <p:cNvSpPr/>
            <p:nvPr/>
          </p:nvSpPr>
          <p:spPr>
            <a:xfrm rot="2033999" flipV="1">
              <a:off x="15686199" y="3603618"/>
              <a:ext cx="1066942" cy="351121"/>
            </a:xfrm>
            <a:custGeom>
              <a:avLst/>
              <a:gdLst/>
              <a:ahLst/>
              <a:cxnLst/>
              <a:rect l="l" t="t" r="r" b="b"/>
              <a:pathLst>
                <a:path w="1066942" h="351121">
                  <a:moveTo>
                    <a:pt x="0" y="351121"/>
                  </a:moveTo>
                  <a:lnTo>
                    <a:pt x="1066941" y="351121"/>
                  </a:lnTo>
                  <a:lnTo>
                    <a:pt x="1066941" y="0"/>
                  </a:lnTo>
                  <a:lnTo>
                    <a:pt x="0" y="0"/>
                  </a:lnTo>
                  <a:lnTo>
                    <a:pt x="0" y="351121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001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900725" y="3863921"/>
              <a:ext cx="3120337" cy="66940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283"/>
                </a:lnSpc>
                <a:spcBef>
                  <a:spcPct val="0"/>
                </a:spcBef>
              </a:pPr>
              <a:r>
                <a:rPr lang="en-US" sz="3059" b="1" dirty="0">
                  <a:solidFill>
                    <a:srgbClr val="331B0D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P-MOSFETs</a:t>
              </a:r>
            </a:p>
          </p:txBody>
        </p:sp>
        <p:sp>
          <p:nvSpPr>
            <p:cNvPr id="14" name="Freeform 14"/>
            <p:cNvSpPr/>
            <p:nvPr/>
          </p:nvSpPr>
          <p:spPr>
            <a:xfrm rot="7425449" flipV="1">
              <a:off x="11802768" y="4898848"/>
              <a:ext cx="1066942" cy="351121"/>
            </a:xfrm>
            <a:custGeom>
              <a:avLst/>
              <a:gdLst/>
              <a:ahLst/>
              <a:cxnLst/>
              <a:rect l="l" t="t" r="r" b="b"/>
              <a:pathLst>
                <a:path w="1066942" h="351121">
                  <a:moveTo>
                    <a:pt x="0" y="351121"/>
                  </a:moveTo>
                  <a:lnTo>
                    <a:pt x="1066941" y="351121"/>
                  </a:lnTo>
                  <a:lnTo>
                    <a:pt x="1066941" y="0"/>
                  </a:lnTo>
                  <a:lnTo>
                    <a:pt x="0" y="0"/>
                  </a:lnTo>
                  <a:lnTo>
                    <a:pt x="0" y="351121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001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963631" y="4287077"/>
              <a:ext cx="1743003" cy="66531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4283"/>
                </a:lnSpc>
                <a:spcBef>
                  <a:spcPct val="0"/>
                </a:spcBef>
              </a:pPr>
              <a:r>
                <a:rPr lang="en-US" sz="3059" b="1" dirty="0">
                  <a:solidFill>
                    <a:srgbClr val="331B0D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STM32</a:t>
              </a:r>
            </a:p>
          </p:txBody>
        </p:sp>
        <p:sp>
          <p:nvSpPr>
            <p:cNvPr id="16" name="Freeform 16"/>
            <p:cNvSpPr/>
            <p:nvPr/>
          </p:nvSpPr>
          <p:spPr>
            <a:xfrm rot="8214534" flipV="1">
              <a:off x="4308297" y="5299041"/>
              <a:ext cx="1066942" cy="351121"/>
            </a:xfrm>
            <a:custGeom>
              <a:avLst/>
              <a:gdLst/>
              <a:ahLst/>
              <a:cxnLst/>
              <a:rect l="l" t="t" r="r" b="b"/>
              <a:pathLst>
                <a:path w="1066942" h="351121">
                  <a:moveTo>
                    <a:pt x="0" y="351121"/>
                  </a:moveTo>
                  <a:lnTo>
                    <a:pt x="1066941" y="351121"/>
                  </a:lnTo>
                  <a:lnTo>
                    <a:pt x="1066941" y="0"/>
                  </a:lnTo>
                  <a:lnTo>
                    <a:pt x="0" y="0"/>
                  </a:lnTo>
                  <a:lnTo>
                    <a:pt x="0" y="351121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001"/>
            </a:p>
          </p:txBody>
        </p:sp>
        <p:sp>
          <p:nvSpPr>
            <p:cNvPr id="17" name="Freeform 17"/>
            <p:cNvSpPr/>
            <p:nvPr/>
          </p:nvSpPr>
          <p:spPr>
            <a:xfrm rot="-8432369" flipV="1">
              <a:off x="4171755" y="12206107"/>
              <a:ext cx="1066942" cy="351121"/>
            </a:xfrm>
            <a:custGeom>
              <a:avLst/>
              <a:gdLst/>
              <a:ahLst/>
              <a:cxnLst/>
              <a:rect l="l" t="t" r="r" b="b"/>
              <a:pathLst>
                <a:path w="1066942" h="351121">
                  <a:moveTo>
                    <a:pt x="0" y="351120"/>
                  </a:moveTo>
                  <a:lnTo>
                    <a:pt x="1066942" y="351120"/>
                  </a:lnTo>
                  <a:lnTo>
                    <a:pt x="1066942" y="0"/>
                  </a:lnTo>
                  <a:lnTo>
                    <a:pt x="0" y="0"/>
                  </a:lnTo>
                  <a:lnTo>
                    <a:pt x="0" y="35112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001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351280" y="12300711"/>
              <a:ext cx="3302376" cy="66940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83"/>
                </a:lnSpc>
                <a:spcBef>
                  <a:spcPct val="0"/>
                </a:spcBef>
              </a:pPr>
              <a:r>
                <a:rPr lang="en-US" sz="3059" b="1">
                  <a:solidFill>
                    <a:srgbClr val="331B0D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IC LED Driver</a:t>
              </a:r>
            </a:p>
          </p:txBody>
        </p:sp>
        <p:sp>
          <p:nvSpPr>
            <p:cNvPr id="19" name="Freeform 19"/>
            <p:cNvSpPr/>
            <p:nvPr/>
          </p:nvSpPr>
          <p:spPr>
            <a:xfrm rot="1347570" flipV="1">
              <a:off x="8680262" y="8472984"/>
              <a:ext cx="1066942" cy="351121"/>
            </a:xfrm>
            <a:custGeom>
              <a:avLst/>
              <a:gdLst/>
              <a:ahLst/>
              <a:cxnLst/>
              <a:rect l="l" t="t" r="r" b="b"/>
              <a:pathLst>
                <a:path w="1066942" h="351121">
                  <a:moveTo>
                    <a:pt x="0" y="351121"/>
                  </a:moveTo>
                  <a:lnTo>
                    <a:pt x="1066941" y="351121"/>
                  </a:lnTo>
                  <a:lnTo>
                    <a:pt x="1066941" y="0"/>
                  </a:lnTo>
                  <a:lnTo>
                    <a:pt x="0" y="0"/>
                  </a:lnTo>
                  <a:lnTo>
                    <a:pt x="0" y="351121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001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041353" y="8193107"/>
              <a:ext cx="3612303" cy="66940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283"/>
                </a:lnSpc>
                <a:spcBef>
                  <a:spcPct val="0"/>
                </a:spcBef>
              </a:pPr>
              <a:r>
                <a:rPr lang="en-US" sz="3059" b="1" dirty="0" err="1">
                  <a:solidFill>
                    <a:srgbClr val="331B0D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Tụ</a:t>
              </a:r>
              <a:r>
                <a:rPr lang="en-US" sz="3059" b="1" dirty="0">
                  <a:solidFill>
                    <a:srgbClr val="331B0D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 decoupling</a:t>
              </a:r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14173200" y="1351890"/>
            <a:ext cx="4114800" cy="12795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999"/>
              </a:lnSpc>
            </a:pPr>
            <a:r>
              <a:rPr lang="en-US" sz="4999" b="1" spc="-299" dirty="0" err="1">
                <a:solidFill>
                  <a:srgbClr val="331B0D"/>
                </a:solidFill>
                <a:latin typeface="K2D Bold"/>
                <a:ea typeface="K2D Bold"/>
                <a:cs typeface="K2D Bold"/>
                <a:sym typeface="K2D Bold"/>
              </a:rPr>
              <a:t>Sơ</a:t>
            </a:r>
            <a:r>
              <a:rPr lang="en-US" sz="4999" b="1" spc="-299" dirty="0">
                <a:solidFill>
                  <a:srgbClr val="331B0D"/>
                </a:solidFill>
                <a:latin typeface="K2D Bold"/>
                <a:ea typeface="K2D Bold"/>
                <a:cs typeface="K2D Bold"/>
                <a:sym typeface="K2D Bold"/>
              </a:rPr>
              <a:t> </a:t>
            </a:r>
            <a:r>
              <a:rPr lang="en-US" sz="4999" b="1" spc="-299" dirty="0" err="1">
                <a:solidFill>
                  <a:srgbClr val="331B0D"/>
                </a:solidFill>
                <a:latin typeface="K2D Bold"/>
                <a:ea typeface="K2D Bold"/>
                <a:cs typeface="K2D Bold"/>
                <a:sym typeface="K2D Bold"/>
              </a:rPr>
              <a:t>đồ</a:t>
            </a:r>
            <a:r>
              <a:rPr lang="en-US" sz="4999" b="1" spc="-299" dirty="0">
                <a:solidFill>
                  <a:srgbClr val="331B0D"/>
                </a:solidFill>
                <a:latin typeface="K2D Bold"/>
                <a:ea typeface="K2D Bold"/>
                <a:cs typeface="K2D Bold"/>
                <a:sym typeface="K2D Bold"/>
              </a:rPr>
              <a:t> </a:t>
            </a:r>
            <a:r>
              <a:rPr lang="en-US" sz="4999" b="1" spc="-299" dirty="0" err="1">
                <a:solidFill>
                  <a:srgbClr val="331B0D"/>
                </a:solidFill>
                <a:latin typeface="K2D Bold"/>
                <a:ea typeface="K2D Bold"/>
                <a:cs typeface="K2D Bold"/>
                <a:sym typeface="K2D Bold"/>
              </a:rPr>
              <a:t>lý</a:t>
            </a:r>
            <a:r>
              <a:rPr lang="en-US" sz="4999" b="1" spc="-299" dirty="0">
                <a:solidFill>
                  <a:srgbClr val="331B0D"/>
                </a:solidFill>
                <a:latin typeface="K2D Bold"/>
                <a:ea typeface="K2D Bold"/>
                <a:cs typeface="K2D Bold"/>
                <a:sym typeface="K2D Bold"/>
              </a:rPr>
              <a:t> </a:t>
            </a:r>
            <a:r>
              <a:rPr lang="en-US" sz="4999" b="1" spc="-299" dirty="0" err="1">
                <a:solidFill>
                  <a:srgbClr val="331B0D"/>
                </a:solidFill>
                <a:latin typeface="K2D Bold"/>
                <a:ea typeface="K2D Bold"/>
                <a:cs typeface="K2D Bold"/>
                <a:sym typeface="K2D Bold"/>
              </a:rPr>
              <a:t>thuyết</a:t>
            </a:r>
            <a:r>
              <a:rPr lang="en-US" sz="4999" b="1" spc="-299" dirty="0">
                <a:solidFill>
                  <a:srgbClr val="331B0D"/>
                </a:solidFill>
                <a:latin typeface="K2D Bold"/>
                <a:ea typeface="K2D Bold"/>
                <a:cs typeface="K2D Bold"/>
                <a:sym typeface="K2D Bold"/>
              </a:rPr>
              <a:t> </a:t>
            </a:r>
            <a:r>
              <a:rPr lang="en-US" sz="4999" b="1" spc="-299" dirty="0" err="1">
                <a:solidFill>
                  <a:srgbClr val="331B0D"/>
                </a:solidFill>
                <a:latin typeface="K2D Bold"/>
                <a:ea typeface="K2D Bold"/>
                <a:cs typeface="K2D Bold"/>
                <a:sym typeface="K2D Bold"/>
              </a:rPr>
              <a:t>mạch</a:t>
            </a:r>
            <a:r>
              <a:rPr lang="en-US" sz="4999" b="1" spc="-299" dirty="0">
                <a:solidFill>
                  <a:srgbClr val="331B0D"/>
                </a:solidFill>
                <a:latin typeface="K2D Bold"/>
                <a:ea typeface="K2D Bold"/>
                <a:cs typeface="K2D Bold"/>
                <a:sym typeface="K2D Bold"/>
              </a:rPr>
              <a:t> </a:t>
            </a:r>
            <a:r>
              <a:rPr lang="en-US" sz="4999" b="1" spc="-299" dirty="0" err="1">
                <a:solidFill>
                  <a:srgbClr val="331B0D"/>
                </a:solidFill>
                <a:latin typeface="K2D Bold"/>
                <a:ea typeface="K2D Bold"/>
                <a:cs typeface="K2D Bold"/>
                <a:sym typeface="K2D Bold"/>
              </a:rPr>
              <a:t>điện</a:t>
            </a:r>
            <a:endParaRPr lang="en-US" sz="4999" b="1" spc="-299" dirty="0">
              <a:solidFill>
                <a:srgbClr val="331B0D"/>
              </a:solidFill>
              <a:latin typeface="K2D Bold"/>
              <a:ea typeface="K2D Bold"/>
              <a:cs typeface="K2D Bold"/>
              <a:sym typeface="K2D Bold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14840059" y="9584152"/>
            <a:ext cx="3122167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1">
                <a:solidFill>
                  <a:srgbClr val="331B0D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Phần mềm: EasyEDA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28700" y="9672735"/>
            <a:ext cx="2055316" cy="264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39"/>
              </a:lnSpc>
              <a:spcBef>
                <a:spcPct val="0"/>
              </a:spcBef>
            </a:pPr>
            <a:r>
              <a:rPr lang="en-US" sz="1599" spc="159">
                <a:solidFill>
                  <a:srgbClr val="000000">
                    <a:alpha val="49804"/>
                  </a:srgbClr>
                </a:solidFill>
                <a:latin typeface="Be Vietnam"/>
                <a:ea typeface="Be Vietnam"/>
                <a:cs typeface="Be Vietnam"/>
                <a:sym typeface="Be Vietnam"/>
              </a:rPr>
              <a:t>LED CUBE NHÓM 5</a:t>
            </a:r>
          </a:p>
        </p:txBody>
      </p:sp>
    </p:spTree>
  </p:cSld>
  <p:clrMapOvr>
    <a:masterClrMapping/>
  </p:clrMapOvr>
  <p:transition spd="slow">
    <p:push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3654768" cy="10287000"/>
          </a:xfrm>
          <a:custGeom>
            <a:avLst/>
            <a:gdLst/>
            <a:ahLst/>
            <a:cxnLst/>
            <a:rect l="l" t="t" r="r" b="b"/>
            <a:pathLst>
              <a:path w="13654768" h="10287000">
                <a:moveTo>
                  <a:pt x="0" y="0"/>
                </a:moveTo>
                <a:lnTo>
                  <a:pt x="13654768" y="0"/>
                </a:lnTo>
                <a:lnTo>
                  <a:pt x="1365476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2" t="-17101" r="-1325" b="-9717"/>
            </a:stretch>
          </a:blipFill>
        </p:spPr>
        <p:txBody>
          <a:bodyPr/>
          <a:lstStyle/>
          <a:p>
            <a:endParaRPr lang="en-001"/>
          </a:p>
        </p:txBody>
      </p:sp>
      <p:sp>
        <p:nvSpPr>
          <p:cNvPr id="3" name="TextBox 3"/>
          <p:cNvSpPr txBox="1"/>
          <p:nvPr/>
        </p:nvSpPr>
        <p:spPr>
          <a:xfrm>
            <a:off x="14060385" y="3169321"/>
            <a:ext cx="3821997" cy="5857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dirty="0" err="1">
                <a:solidFill>
                  <a:srgbClr val="331B0D"/>
                </a:solidFill>
                <a:latin typeface="Be Vietnam"/>
                <a:ea typeface="Be Vietnam"/>
                <a:cs typeface="Be Vietnam"/>
                <a:sym typeface="Be Vietnam"/>
              </a:rPr>
              <a:t>Mục</a:t>
            </a:r>
            <a:r>
              <a:rPr lang="en-US" sz="3000" dirty="0">
                <a:solidFill>
                  <a:srgbClr val="331B0D"/>
                </a:solidFill>
                <a:latin typeface="Be Vietnam"/>
                <a:ea typeface="Be Vietnam"/>
                <a:cs typeface="Be Vietnam"/>
                <a:sym typeface="Be Vietnam"/>
              </a:rPr>
              <a:t> </a:t>
            </a:r>
            <a:r>
              <a:rPr lang="en-US" sz="3000" dirty="0" err="1">
                <a:solidFill>
                  <a:srgbClr val="331B0D"/>
                </a:solidFill>
                <a:latin typeface="Be Vietnam"/>
                <a:ea typeface="Be Vietnam"/>
                <a:cs typeface="Be Vietnam"/>
                <a:sym typeface="Be Vietnam"/>
              </a:rPr>
              <a:t>tiêu</a:t>
            </a:r>
            <a:r>
              <a:rPr lang="en-US" sz="3000" dirty="0">
                <a:solidFill>
                  <a:srgbClr val="331B0D"/>
                </a:solidFill>
                <a:latin typeface="Be Vietnam"/>
                <a:ea typeface="Be Vietnam"/>
                <a:cs typeface="Be Vietnam"/>
                <a:sym typeface="Be Vietnam"/>
              </a:rPr>
              <a:t> </a:t>
            </a:r>
            <a:r>
              <a:rPr lang="en-US" sz="3000" dirty="0" err="1">
                <a:solidFill>
                  <a:srgbClr val="331B0D"/>
                </a:solidFill>
                <a:latin typeface="Be Vietnam"/>
                <a:ea typeface="Be Vietnam"/>
                <a:cs typeface="Be Vietnam"/>
                <a:sym typeface="Be Vietnam"/>
              </a:rPr>
              <a:t>của</a:t>
            </a:r>
            <a:r>
              <a:rPr lang="en-US" sz="3000" dirty="0">
                <a:solidFill>
                  <a:srgbClr val="331B0D"/>
                </a:solidFill>
                <a:latin typeface="Be Vietnam"/>
                <a:ea typeface="Be Vietnam"/>
                <a:cs typeface="Be Vietnam"/>
                <a:sym typeface="Be Vietnam"/>
              </a:rPr>
              <a:t> </a:t>
            </a:r>
            <a:r>
              <a:rPr lang="en-US" sz="3000" dirty="0" err="1">
                <a:solidFill>
                  <a:srgbClr val="331B0D"/>
                </a:solidFill>
                <a:latin typeface="Be Vietnam"/>
                <a:ea typeface="Be Vietnam"/>
                <a:cs typeface="Be Vietnam"/>
                <a:sym typeface="Be Vietnam"/>
              </a:rPr>
              <a:t>việc</a:t>
            </a:r>
            <a:r>
              <a:rPr lang="en-US" sz="3000" dirty="0">
                <a:solidFill>
                  <a:srgbClr val="331B0D"/>
                </a:solidFill>
                <a:latin typeface="Be Vietnam"/>
                <a:ea typeface="Be Vietnam"/>
                <a:cs typeface="Be Vietnam"/>
                <a:sym typeface="Be Vietnam"/>
              </a:rPr>
              <a:t> </a:t>
            </a:r>
            <a:r>
              <a:rPr lang="en-US" sz="3000" dirty="0" err="1">
                <a:solidFill>
                  <a:srgbClr val="331B0D"/>
                </a:solidFill>
                <a:latin typeface="Be Vietnam"/>
                <a:ea typeface="Be Vietnam"/>
                <a:cs typeface="Be Vietnam"/>
                <a:sym typeface="Be Vietnam"/>
              </a:rPr>
              <a:t>thiết</a:t>
            </a:r>
            <a:r>
              <a:rPr lang="en-US" sz="3000" dirty="0">
                <a:solidFill>
                  <a:srgbClr val="331B0D"/>
                </a:solidFill>
                <a:latin typeface="Be Vietnam"/>
                <a:ea typeface="Be Vietnam"/>
                <a:cs typeface="Be Vietnam"/>
                <a:sym typeface="Be Vietnam"/>
              </a:rPr>
              <a:t> </a:t>
            </a:r>
            <a:r>
              <a:rPr lang="en-US" sz="3000" dirty="0" err="1">
                <a:solidFill>
                  <a:srgbClr val="331B0D"/>
                </a:solidFill>
                <a:latin typeface="Be Vietnam"/>
                <a:ea typeface="Be Vietnam"/>
                <a:cs typeface="Be Vietnam"/>
                <a:sym typeface="Be Vietnam"/>
              </a:rPr>
              <a:t>kế</a:t>
            </a:r>
            <a:r>
              <a:rPr lang="en-US" sz="3000" dirty="0">
                <a:solidFill>
                  <a:srgbClr val="331B0D"/>
                </a:solidFill>
                <a:latin typeface="Be Vietnam"/>
                <a:ea typeface="Be Vietnam"/>
                <a:cs typeface="Be Vietnam"/>
                <a:sym typeface="Be Vietnam"/>
              </a:rPr>
              <a:t> PCB: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 dirty="0" err="1">
                <a:solidFill>
                  <a:srgbClr val="331B0D"/>
                </a:solidFill>
                <a:latin typeface="Be Vietnam"/>
                <a:ea typeface="Be Vietnam"/>
                <a:cs typeface="Be Vietnam"/>
                <a:sym typeface="Be Vietnam"/>
              </a:rPr>
              <a:t>Xác</a:t>
            </a:r>
            <a:r>
              <a:rPr lang="en-US" sz="3000" dirty="0">
                <a:solidFill>
                  <a:srgbClr val="331B0D"/>
                </a:solidFill>
                <a:latin typeface="Be Vietnam"/>
                <a:ea typeface="Be Vietnam"/>
                <a:cs typeface="Be Vietnam"/>
                <a:sym typeface="Be Vietnam"/>
              </a:rPr>
              <a:t> </a:t>
            </a:r>
            <a:r>
              <a:rPr lang="en-US" sz="3000" dirty="0" err="1">
                <a:solidFill>
                  <a:srgbClr val="331B0D"/>
                </a:solidFill>
                <a:latin typeface="Be Vietnam"/>
                <a:ea typeface="Be Vietnam"/>
                <a:cs typeface="Be Vietnam"/>
                <a:sym typeface="Be Vietnam"/>
              </a:rPr>
              <a:t>định</a:t>
            </a:r>
            <a:r>
              <a:rPr lang="en-US" sz="3000" dirty="0">
                <a:solidFill>
                  <a:srgbClr val="331B0D"/>
                </a:solidFill>
                <a:latin typeface="Be Vietnam"/>
                <a:ea typeface="Be Vietnam"/>
                <a:cs typeface="Be Vietnam"/>
                <a:sym typeface="Be Vietnam"/>
              </a:rPr>
              <a:t> </a:t>
            </a:r>
            <a:r>
              <a:rPr lang="en-US" sz="3000" dirty="0" err="1">
                <a:solidFill>
                  <a:srgbClr val="331B0D"/>
                </a:solidFill>
                <a:latin typeface="Be Vietnam"/>
                <a:ea typeface="Be Vietnam"/>
                <a:cs typeface="Be Vietnam"/>
                <a:sym typeface="Be Vietnam"/>
              </a:rPr>
              <a:t>được</a:t>
            </a:r>
            <a:r>
              <a:rPr lang="en-US" sz="3000" dirty="0">
                <a:solidFill>
                  <a:srgbClr val="331B0D"/>
                </a:solidFill>
                <a:latin typeface="Be Vietnam"/>
                <a:ea typeface="Be Vietnam"/>
                <a:cs typeface="Be Vietnam"/>
                <a:sym typeface="Be Vietnam"/>
              </a:rPr>
              <a:t> </a:t>
            </a:r>
            <a:r>
              <a:rPr lang="en-US" sz="3000" dirty="0" err="1">
                <a:solidFill>
                  <a:srgbClr val="331B0D"/>
                </a:solidFill>
                <a:latin typeface="Be Vietnam"/>
                <a:ea typeface="Be Vietnam"/>
                <a:cs typeface="Be Vietnam"/>
                <a:sym typeface="Be Vietnam"/>
              </a:rPr>
              <a:t>vị</a:t>
            </a:r>
            <a:r>
              <a:rPr lang="en-US" sz="3000" dirty="0">
                <a:solidFill>
                  <a:srgbClr val="331B0D"/>
                </a:solidFill>
                <a:latin typeface="Be Vietnam"/>
                <a:ea typeface="Be Vietnam"/>
                <a:cs typeface="Be Vietnam"/>
                <a:sym typeface="Be Vietnam"/>
              </a:rPr>
              <a:t> </a:t>
            </a:r>
            <a:r>
              <a:rPr lang="en-US" sz="3000" dirty="0" err="1">
                <a:solidFill>
                  <a:srgbClr val="331B0D"/>
                </a:solidFill>
                <a:latin typeface="Be Vietnam"/>
                <a:ea typeface="Be Vietnam"/>
                <a:cs typeface="Be Vietnam"/>
                <a:sym typeface="Be Vietnam"/>
              </a:rPr>
              <a:t>trí</a:t>
            </a:r>
            <a:r>
              <a:rPr lang="en-US" sz="3000" dirty="0">
                <a:solidFill>
                  <a:srgbClr val="331B0D"/>
                </a:solidFill>
                <a:latin typeface="Be Vietnam"/>
                <a:ea typeface="Be Vietnam"/>
                <a:cs typeface="Be Vietnam"/>
                <a:sym typeface="Be Vietnam"/>
              </a:rPr>
              <a:t> </a:t>
            </a:r>
            <a:r>
              <a:rPr lang="en-US" sz="3000" dirty="0" err="1">
                <a:solidFill>
                  <a:srgbClr val="331B0D"/>
                </a:solidFill>
                <a:latin typeface="Be Vietnam"/>
                <a:ea typeface="Be Vietnam"/>
                <a:cs typeface="Be Vietnam"/>
                <a:sym typeface="Be Vietnam"/>
              </a:rPr>
              <a:t>các</a:t>
            </a:r>
            <a:r>
              <a:rPr lang="en-US" sz="3000" dirty="0">
                <a:solidFill>
                  <a:srgbClr val="331B0D"/>
                </a:solidFill>
                <a:latin typeface="Be Vietnam"/>
                <a:ea typeface="Be Vietnam"/>
                <a:cs typeface="Be Vietnam"/>
                <a:sym typeface="Be Vietnam"/>
              </a:rPr>
              <a:t> </a:t>
            </a:r>
            <a:r>
              <a:rPr lang="en-US" sz="3000" dirty="0" err="1">
                <a:solidFill>
                  <a:srgbClr val="331B0D"/>
                </a:solidFill>
                <a:latin typeface="Be Vietnam"/>
                <a:ea typeface="Be Vietnam"/>
                <a:cs typeface="Be Vietnam"/>
                <a:sym typeface="Be Vietnam"/>
              </a:rPr>
              <a:t>linh</a:t>
            </a:r>
            <a:r>
              <a:rPr lang="en-US" sz="3000" dirty="0">
                <a:solidFill>
                  <a:srgbClr val="331B0D"/>
                </a:solidFill>
                <a:latin typeface="Be Vietnam"/>
                <a:ea typeface="Be Vietnam"/>
                <a:cs typeface="Be Vietnam"/>
                <a:sym typeface="Be Vietnam"/>
              </a:rPr>
              <a:t> </a:t>
            </a:r>
            <a:r>
              <a:rPr lang="en-US" sz="3000" dirty="0" err="1">
                <a:solidFill>
                  <a:srgbClr val="331B0D"/>
                </a:solidFill>
                <a:latin typeface="Be Vietnam"/>
                <a:ea typeface="Be Vietnam"/>
                <a:cs typeface="Be Vietnam"/>
                <a:sym typeface="Be Vietnam"/>
              </a:rPr>
              <a:t>kiện</a:t>
            </a:r>
            <a:endParaRPr lang="en-US" sz="3000" dirty="0">
              <a:solidFill>
                <a:srgbClr val="331B0D"/>
              </a:solidFill>
              <a:latin typeface="Be Vietnam"/>
              <a:ea typeface="Be Vietnam"/>
              <a:cs typeface="Be Vietnam"/>
              <a:sym typeface="Be Vietnam"/>
            </a:endParaRP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 dirty="0" err="1">
                <a:solidFill>
                  <a:srgbClr val="331B0D"/>
                </a:solidFill>
                <a:latin typeface="Be Vietnam"/>
                <a:ea typeface="Be Vietnam"/>
                <a:cs typeface="Be Vietnam"/>
                <a:sym typeface="Be Vietnam"/>
              </a:rPr>
              <a:t>Ước</a:t>
            </a:r>
            <a:r>
              <a:rPr lang="en-US" sz="3000" dirty="0">
                <a:solidFill>
                  <a:srgbClr val="331B0D"/>
                </a:solidFill>
                <a:latin typeface="Be Vietnam"/>
                <a:ea typeface="Be Vietnam"/>
                <a:cs typeface="Be Vietnam"/>
                <a:sym typeface="Be Vietnam"/>
              </a:rPr>
              <a:t> </a:t>
            </a:r>
            <a:r>
              <a:rPr lang="en-US" sz="3000" dirty="0" err="1">
                <a:solidFill>
                  <a:srgbClr val="331B0D"/>
                </a:solidFill>
                <a:latin typeface="Be Vietnam"/>
                <a:ea typeface="Be Vietnam"/>
                <a:cs typeface="Be Vietnam"/>
                <a:sym typeface="Be Vietnam"/>
              </a:rPr>
              <a:t>tính</a:t>
            </a:r>
            <a:r>
              <a:rPr lang="en-US" sz="3000" dirty="0">
                <a:solidFill>
                  <a:srgbClr val="331B0D"/>
                </a:solidFill>
                <a:latin typeface="Be Vietnam"/>
                <a:ea typeface="Be Vietnam"/>
                <a:cs typeface="Be Vietnam"/>
                <a:sym typeface="Be Vietnam"/>
              </a:rPr>
              <a:t> </a:t>
            </a:r>
            <a:r>
              <a:rPr lang="en-US" sz="3000" dirty="0" err="1">
                <a:solidFill>
                  <a:srgbClr val="331B0D"/>
                </a:solidFill>
                <a:latin typeface="Be Vietnam"/>
                <a:ea typeface="Be Vietnam"/>
                <a:cs typeface="Be Vietnam"/>
                <a:sym typeface="Be Vietnam"/>
              </a:rPr>
              <a:t>cách</a:t>
            </a:r>
            <a:r>
              <a:rPr lang="en-US" sz="3000" dirty="0">
                <a:solidFill>
                  <a:srgbClr val="331B0D"/>
                </a:solidFill>
                <a:latin typeface="Be Vietnam"/>
                <a:ea typeface="Be Vietnam"/>
                <a:cs typeface="Be Vietnam"/>
                <a:sym typeface="Be Vietnam"/>
              </a:rPr>
              <a:t> </a:t>
            </a:r>
            <a:r>
              <a:rPr lang="en-US" sz="3000" dirty="0" err="1">
                <a:solidFill>
                  <a:srgbClr val="331B0D"/>
                </a:solidFill>
                <a:latin typeface="Be Vietnam"/>
                <a:ea typeface="Be Vietnam"/>
                <a:cs typeface="Be Vietnam"/>
                <a:sym typeface="Be Vietnam"/>
              </a:rPr>
              <a:t>đi</a:t>
            </a:r>
            <a:r>
              <a:rPr lang="en-US" sz="3000" dirty="0">
                <a:solidFill>
                  <a:srgbClr val="331B0D"/>
                </a:solidFill>
                <a:latin typeface="Be Vietnam"/>
                <a:ea typeface="Be Vietnam"/>
                <a:cs typeface="Be Vietnam"/>
                <a:sym typeface="Be Vietnam"/>
              </a:rPr>
              <a:t> </a:t>
            </a:r>
            <a:r>
              <a:rPr lang="en-US" sz="3000" dirty="0" err="1">
                <a:solidFill>
                  <a:srgbClr val="331B0D"/>
                </a:solidFill>
                <a:latin typeface="Be Vietnam"/>
                <a:ea typeface="Be Vietnam"/>
                <a:cs typeface="Be Vietnam"/>
                <a:sym typeface="Be Vietnam"/>
              </a:rPr>
              <a:t>dây</a:t>
            </a:r>
            <a:r>
              <a:rPr lang="en-US" sz="3000" dirty="0">
                <a:solidFill>
                  <a:srgbClr val="331B0D"/>
                </a:solidFill>
                <a:latin typeface="Be Vietnam"/>
                <a:ea typeface="Be Vietnam"/>
                <a:cs typeface="Be Vietnam"/>
                <a:sym typeface="Be Vietnam"/>
              </a:rPr>
              <a:t> </a:t>
            </a:r>
            <a:r>
              <a:rPr lang="en-US" sz="3000" dirty="0" err="1">
                <a:solidFill>
                  <a:srgbClr val="331B0D"/>
                </a:solidFill>
                <a:latin typeface="Be Vietnam"/>
                <a:ea typeface="Be Vietnam"/>
                <a:cs typeface="Be Vietnam"/>
                <a:sym typeface="Be Vietnam"/>
              </a:rPr>
              <a:t>điện</a:t>
            </a:r>
            <a:endParaRPr lang="en-US" sz="3000" dirty="0">
              <a:solidFill>
                <a:srgbClr val="331B0D"/>
              </a:solidFill>
              <a:latin typeface="Be Vietnam"/>
              <a:ea typeface="Be Vietnam"/>
              <a:cs typeface="Be Vietnam"/>
              <a:sym typeface="Be Vietnam"/>
            </a:endParaRP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 dirty="0" err="1">
                <a:solidFill>
                  <a:srgbClr val="331B0D"/>
                </a:solidFill>
                <a:latin typeface="Be Vietnam"/>
                <a:ea typeface="Be Vietnam"/>
                <a:cs typeface="Be Vietnam"/>
                <a:sym typeface="Be Vietnam"/>
              </a:rPr>
              <a:t>Hàn</a:t>
            </a:r>
            <a:r>
              <a:rPr lang="en-US" sz="3000" dirty="0">
                <a:solidFill>
                  <a:srgbClr val="331B0D"/>
                </a:solidFill>
                <a:latin typeface="Be Vietnam"/>
                <a:ea typeface="Be Vietnam"/>
                <a:cs typeface="Be Vietnam"/>
                <a:sym typeface="Be Vietnam"/>
              </a:rPr>
              <a:t> </a:t>
            </a:r>
            <a:r>
              <a:rPr lang="en-US" sz="3000" dirty="0" err="1">
                <a:solidFill>
                  <a:srgbClr val="331B0D"/>
                </a:solidFill>
                <a:latin typeface="Be Vietnam"/>
                <a:ea typeface="Be Vietnam"/>
                <a:cs typeface="Be Vietnam"/>
                <a:sym typeface="Be Vietnam"/>
              </a:rPr>
              <a:t>mạch</a:t>
            </a:r>
            <a:r>
              <a:rPr lang="en-US" sz="3000" dirty="0">
                <a:solidFill>
                  <a:srgbClr val="331B0D"/>
                </a:solidFill>
                <a:latin typeface="Be Vietnam"/>
                <a:ea typeface="Be Vietnam"/>
                <a:cs typeface="Be Vietnam"/>
                <a:sym typeface="Be Vietnam"/>
              </a:rPr>
              <a:t> </a:t>
            </a:r>
            <a:r>
              <a:rPr lang="en-US" sz="3000" dirty="0" err="1">
                <a:solidFill>
                  <a:srgbClr val="331B0D"/>
                </a:solidFill>
                <a:latin typeface="Be Vietnam"/>
                <a:ea typeface="Be Vietnam"/>
                <a:cs typeface="Be Vietnam"/>
                <a:sym typeface="Be Vietnam"/>
              </a:rPr>
              <a:t>có</a:t>
            </a:r>
            <a:r>
              <a:rPr lang="en-US" sz="3000" dirty="0">
                <a:solidFill>
                  <a:srgbClr val="331B0D"/>
                </a:solidFill>
                <a:latin typeface="Be Vietnam"/>
                <a:ea typeface="Be Vietnam"/>
                <a:cs typeface="Be Vietnam"/>
                <a:sym typeface="Be Vietnam"/>
              </a:rPr>
              <a:t> </a:t>
            </a:r>
            <a:r>
              <a:rPr lang="en-US" sz="3000" dirty="0" err="1">
                <a:solidFill>
                  <a:srgbClr val="331B0D"/>
                </a:solidFill>
                <a:latin typeface="Be Vietnam"/>
                <a:ea typeface="Be Vietnam"/>
                <a:cs typeface="Be Vietnam"/>
                <a:sym typeface="Be Vietnam"/>
              </a:rPr>
              <a:t>kế</a:t>
            </a:r>
            <a:r>
              <a:rPr lang="en-US" sz="3000" dirty="0">
                <a:solidFill>
                  <a:srgbClr val="331B0D"/>
                </a:solidFill>
                <a:latin typeface="Be Vietnam"/>
                <a:ea typeface="Be Vietnam"/>
                <a:cs typeface="Be Vietnam"/>
                <a:sym typeface="Be Vietnam"/>
              </a:rPr>
              <a:t> </a:t>
            </a:r>
            <a:r>
              <a:rPr lang="en-US" sz="3000" dirty="0" err="1">
                <a:solidFill>
                  <a:srgbClr val="331B0D"/>
                </a:solidFill>
                <a:latin typeface="Be Vietnam"/>
                <a:ea typeface="Be Vietnam"/>
                <a:cs typeface="Be Vietnam"/>
                <a:sym typeface="Be Vietnam"/>
              </a:rPr>
              <a:t>hoạch</a:t>
            </a:r>
            <a:r>
              <a:rPr lang="en-US" sz="3000" dirty="0">
                <a:solidFill>
                  <a:srgbClr val="331B0D"/>
                </a:solidFill>
                <a:latin typeface="Be Vietnam"/>
                <a:ea typeface="Be Vietnam"/>
                <a:cs typeface="Be Vietnam"/>
                <a:sym typeface="Be Vietnam"/>
              </a:rPr>
              <a:t>, </a:t>
            </a:r>
            <a:r>
              <a:rPr lang="en-US" sz="3000" dirty="0" err="1">
                <a:solidFill>
                  <a:srgbClr val="331B0D"/>
                </a:solidFill>
                <a:latin typeface="Be Vietnam"/>
                <a:ea typeface="Be Vietnam"/>
                <a:cs typeface="Be Vietnam"/>
                <a:sym typeface="Be Vietnam"/>
              </a:rPr>
              <a:t>hạn</a:t>
            </a:r>
            <a:r>
              <a:rPr lang="en-US" sz="3000" dirty="0">
                <a:solidFill>
                  <a:srgbClr val="331B0D"/>
                </a:solidFill>
                <a:latin typeface="Be Vietnam"/>
                <a:ea typeface="Be Vietnam"/>
                <a:cs typeface="Be Vietnam"/>
                <a:sym typeface="Be Vietnam"/>
              </a:rPr>
              <a:t> </a:t>
            </a:r>
            <a:r>
              <a:rPr lang="en-US" sz="3000" dirty="0" err="1">
                <a:solidFill>
                  <a:srgbClr val="331B0D"/>
                </a:solidFill>
                <a:latin typeface="Be Vietnam"/>
                <a:ea typeface="Be Vietnam"/>
                <a:cs typeface="Be Vietnam"/>
                <a:sym typeface="Be Vietnam"/>
              </a:rPr>
              <a:t>chế</a:t>
            </a:r>
            <a:r>
              <a:rPr lang="en-US" sz="3000" dirty="0">
                <a:solidFill>
                  <a:srgbClr val="331B0D"/>
                </a:solidFill>
                <a:latin typeface="Be Vietnam"/>
                <a:ea typeface="Be Vietnam"/>
                <a:cs typeface="Be Vietnam"/>
                <a:sym typeface="Be Vietnam"/>
              </a:rPr>
              <a:t> </a:t>
            </a:r>
            <a:r>
              <a:rPr lang="en-US" sz="3000" dirty="0" err="1">
                <a:solidFill>
                  <a:srgbClr val="331B0D"/>
                </a:solidFill>
                <a:latin typeface="Be Vietnam"/>
                <a:ea typeface="Be Vietnam"/>
                <a:cs typeface="Be Vietnam"/>
                <a:sym typeface="Be Vietnam"/>
              </a:rPr>
              <a:t>gặp</a:t>
            </a:r>
            <a:r>
              <a:rPr lang="en-US" sz="3000" dirty="0">
                <a:solidFill>
                  <a:srgbClr val="331B0D"/>
                </a:solidFill>
                <a:latin typeface="Be Vietnam"/>
                <a:ea typeface="Be Vietnam"/>
                <a:cs typeface="Be Vietnam"/>
                <a:sym typeface="Be Vietnam"/>
              </a:rPr>
              <a:t> </a:t>
            </a:r>
            <a:r>
              <a:rPr lang="en-US" sz="3000" dirty="0" err="1">
                <a:solidFill>
                  <a:srgbClr val="331B0D"/>
                </a:solidFill>
                <a:latin typeface="Be Vietnam"/>
                <a:ea typeface="Be Vietnam"/>
                <a:cs typeface="Be Vietnam"/>
                <a:sym typeface="Be Vietnam"/>
              </a:rPr>
              <a:t>lỗi</a:t>
            </a:r>
            <a:r>
              <a:rPr lang="en-US" sz="3000" dirty="0">
                <a:solidFill>
                  <a:srgbClr val="331B0D"/>
                </a:solidFill>
                <a:latin typeface="Be Vietnam"/>
                <a:ea typeface="Be Vietnam"/>
                <a:cs typeface="Be Vietnam"/>
                <a:sym typeface="Be Vietnam"/>
              </a:rPr>
              <a:t>.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 dirty="0" err="1">
                <a:solidFill>
                  <a:srgbClr val="331B0D"/>
                </a:solidFill>
                <a:latin typeface="Be Vietnam"/>
                <a:ea typeface="Be Vietnam"/>
                <a:cs typeface="Be Vietnam"/>
                <a:sym typeface="Be Vietnam"/>
              </a:rPr>
              <a:t>Tối</a:t>
            </a:r>
            <a:r>
              <a:rPr lang="en-US" sz="3000" dirty="0">
                <a:solidFill>
                  <a:srgbClr val="331B0D"/>
                </a:solidFill>
                <a:latin typeface="Be Vietnam"/>
                <a:ea typeface="Be Vietnam"/>
                <a:cs typeface="Be Vietnam"/>
                <a:sym typeface="Be Vietnam"/>
              </a:rPr>
              <a:t> </a:t>
            </a:r>
            <a:r>
              <a:rPr lang="en-US" sz="3000" dirty="0" err="1">
                <a:solidFill>
                  <a:srgbClr val="331B0D"/>
                </a:solidFill>
                <a:latin typeface="Be Vietnam"/>
                <a:ea typeface="Be Vietnam"/>
                <a:cs typeface="Be Vietnam"/>
                <a:sym typeface="Be Vietnam"/>
              </a:rPr>
              <a:t>ưu</a:t>
            </a:r>
            <a:r>
              <a:rPr lang="en-US" sz="3000" dirty="0">
                <a:solidFill>
                  <a:srgbClr val="331B0D"/>
                </a:solidFill>
                <a:latin typeface="Be Vietnam"/>
                <a:ea typeface="Be Vietnam"/>
                <a:cs typeface="Be Vietnam"/>
                <a:sym typeface="Be Vietnam"/>
              </a:rPr>
              <a:t> </a:t>
            </a:r>
            <a:r>
              <a:rPr lang="en-US" sz="3000" dirty="0" err="1">
                <a:solidFill>
                  <a:srgbClr val="331B0D"/>
                </a:solidFill>
                <a:latin typeface="Be Vietnam"/>
                <a:ea typeface="Be Vietnam"/>
                <a:cs typeface="Be Vietnam"/>
                <a:sym typeface="Be Vietnam"/>
              </a:rPr>
              <a:t>khả</a:t>
            </a:r>
            <a:r>
              <a:rPr lang="en-US" sz="3000" dirty="0">
                <a:solidFill>
                  <a:srgbClr val="331B0D"/>
                </a:solidFill>
                <a:latin typeface="Be Vietnam"/>
                <a:ea typeface="Be Vietnam"/>
                <a:cs typeface="Be Vietnam"/>
                <a:sym typeface="Be Vietnam"/>
              </a:rPr>
              <a:t> </a:t>
            </a:r>
            <a:r>
              <a:rPr lang="en-US" sz="3000" dirty="0" err="1">
                <a:solidFill>
                  <a:srgbClr val="331B0D"/>
                </a:solidFill>
                <a:latin typeface="Be Vietnam"/>
                <a:ea typeface="Be Vietnam"/>
                <a:cs typeface="Be Vietnam"/>
                <a:sym typeface="Be Vietnam"/>
              </a:rPr>
              <a:t>năng</a:t>
            </a:r>
            <a:r>
              <a:rPr lang="en-US" sz="3000" dirty="0">
                <a:solidFill>
                  <a:srgbClr val="331B0D"/>
                </a:solidFill>
                <a:latin typeface="Be Vietnam"/>
                <a:ea typeface="Be Vietnam"/>
                <a:cs typeface="Be Vietnam"/>
                <a:sym typeface="Be Vietnam"/>
              </a:rPr>
              <a:t> </a:t>
            </a:r>
            <a:r>
              <a:rPr lang="en-US" sz="3000" dirty="0" err="1">
                <a:solidFill>
                  <a:srgbClr val="331B0D"/>
                </a:solidFill>
                <a:latin typeface="Be Vietnam"/>
                <a:ea typeface="Be Vietnam"/>
                <a:cs typeface="Be Vietnam"/>
                <a:sym typeface="Be Vietnam"/>
              </a:rPr>
              <a:t>sửa</a:t>
            </a:r>
            <a:r>
              <a:rPr lang="en-US" sz="3000" dirty="0">
                <a:solidFill>
                  <a:srgbClr val="331B0D"/>
                </a:solidFill>
                <a:latin typeface="Be Vietnam"/>
                <a:ea typeface="Be Vietnam"/>
                <a:cs typeface="Be Vietnam"/>
                <a:sym typeface="Be Vietnam"/>
              </a:rPr>
              <a:t> </a:t>
            </a:r>
            <a:r>
              <a:rPr lang="en-US" sz="3000" dirty="0" err="1">
                <a:solidFill>
                  <a:srgbClr val="331B0D"/>
                </a:solidFill>
                <a:latin typeface="Be Vietnam"/>
                <a:ea typeface="Be Vietnam"/>
                <a:cs typeface="Be Vietnam"/>
                <a:sym typeface="Be Vietnam"/>
              </a:rPr>
              <a:t>chữa</a:t>
            </a:r>
            <a:endParaRPr lang="en-US" sz="3000" dirty="0">
              <a:solidFill>
                <a:srgbClr val="331B0D"/>
              </a:solidFill>
              <a:latin typeface="Be Vietnam"/>
              <a:ea typeface="Be Vietnam"/>
              <a:cs typeface="Be Vietnam"/>
              <a:sym typeface="Be Vietnam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3654768" y="1351890"/>
            <a:ext cx="4633232" cy="1279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99"/>
              </a:lnSpc>
            </a:pPr>
            <a:r>
              <a:rPr lang="en-US" sz="4999" b="1" spc="-299">
                <a:solidFill>
                  <a:srgbClr val="331B0D"/>
                </a:solidFill>
                <a:latin typeface="K2D Bold"/>
                <a:ea typeface="K2D Bold"/>
                <a:cs typeface="K2D Bold"/>
                <a:sym typeface="K2D Bold"/>
              </a:rPr>
              <a:t>Sơ đồ hàn mạch (Thiết kế PCB)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4840059" y="9584152"/>
            <a:ext cx="3122167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1">
                <a:solidFill>
                  <a:srgbClr val="331B0D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Phần mềm: EasyEDA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66800" y="9809813"/>
            <a:ext cx="2055316" cy="264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39"/>
              </a:lnSpc>
              <a:spcBef>
                <a:spcPct val="0"/>
              </a:spcBef>
            </a:pPr>
            <a:r>
              <a:rPr lang="en-US" sz="1599" spc="159">
                <a:solidFill>
                  <a:srgbClr val="FFFFFF">
                    <a:alpha val="49804"/>
                  </a:srgbClr>
                </a:solidFill>
                <a:latin typeface="Be Vietnam"/>
                <a:ea typeface="Be Vietnam"/>
                <a:cs typeface="Be Vietnam"/>
                <a:sym typeface="Be Vietnam"/>
              </a:rPr>
              <a:t>LED CUBE NHÓM 5</a:t>
            </a:r>
          </a:p>
        </p:txBody>
      </p:sp>
    </p:spTree>
  </p:cSld>
  <p:clrMapOvr>
    <a:masterClrMapping/>
  </p:clrMapOvr>
  <p:transition spd="slow">
    <p:push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1753137"/>
            <a:ext cx="9635136" cy="6780727"/>
          </a:xfrm>
          <a:custGeom>
            <a:avLst/>
            <a:gdLst/>
            <a:ahLst/>
            <a:cxnLst/>
            <a:rect l="l" t="t" r="r" b="b"/>
            <a:pathLst>
              <a:path w="9635136" h="6780727">
                <a:moveTo>
                  <a:pt x="0" y="0"/>
                </a:moveTo>
                <a:lnTo>
                  <a:pt x="9635136" y="0"/>
                </a:lnTo>
                <a:lnTo>
                  <a:pt x="9635136" y="6780726"/>
                </a:lnTo>
                <a:lnTo>
                  <a:pt x="0" y="67807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001"/>
          </a:p>
        </p:txBody>
      </p:sp>
      <p:sp>
        <p:nvSpPr>
          <p:cNvPr id="3" name="TextBox 3"/>
          <p:cNvSpPr txBox="1"/>
          <p:nvPr/>
        </p:nvSpPr>
        <p:spPr>
          <a:xfrm>
            <a:off x="391903" y="514860"/>
            <a:ext cx="4685467" cy="650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99"/>
              </a:lnSpc>
            </a:pPr>
            <a:r>
              <a:rPr lang="en-US" sz="4999" b="1" spc="-299">
                <a:solidFill>
                  <a:srgbClr val="331B0D"/>
                </a:solidFill>
                <a:latin typeface="K2D Bold"/>
                <a:ea typeface="K2D Bold"/>
                <a:cs typeface="K2D Bold"/>
                <a:sym typeface="K2D Bold"/>
              </a:rPr>
              <a:t>Cấu tạo LED Cube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1052535" y="2298700"/>
            <a:ext cx="6784963" cy="56134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331B0D"/>
                </a:solidFill>
                <a:latin typeface="Be Vietnam"/>
                <a:ea typeface="Be Vietnam"/>
                <a:cs typeface="Be Vietnam"/>
                <a:sym typeface="Be Vietnam"/>
              </a:rPr>
              <a:t>(1): P-MOSFET source dòng</a:t>
            </a:r>
          </a:p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331B0D"/>
                </a:solidFill>
                <a:latin typeface="Be Vietnam"/>
                <a:ea typeface="Be Vietnam"/>
                <a:cs typeface="Be Vietnam"/>
                <a:sym typeface="Be Vietnam"/>
              </a:rPr>
              <a:t>(2): Vị trí cấp nguồn</a:t>
            </a:r>
          </a:p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331B0D"/>
                </a:solidFill>
                <a:latin typeface="Be Vietnam"/>
                <a:ea typeface="Be Vietnam"/>
                <a:cs typeface="Be Vietnam"/>
                <a:sym typeface="Be Vietnam"/>
              </a:rPr>
              <a:t>(3): ESP32</a:t>
            </a:r>
          </a:p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331B0D"/>
                </a:solidFill>
                <a:latin typeface="Be Vietnam"/>
                <a:ea typeface="Be Vietnam"/>
                <a:cs typeface="Be Vietnam"/>
                <a:sym typeface="Be Vietnam"/>
              </a:rPr>
              <a:t>(4): IC Buffer điều chỉnh điện áp 3.3V → 5V</a:t>
            </a:r>
          </a:p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331B0D"/>
                </a:solidFill>
                <a:latin typeface="Be Vietnam"/>
                <a:ea typeface="Be Vietnam"/>
                <a:cs typeface="Be Vietnam"/>
                <a:sym typeface="Be Vietnam"/>
              </a:rPr>
              <a:t>(5): IC LED Driver sink dòng</a:t>
            </a:r>
          </a:p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331B0D"/>
                </a:solidFill>
                <a:latin typeface="Be Vietnam"/>
                <a:ea typeface="Be Vietnam"/>
                <a:cs typeface="Be Vietnam"/>
                <a:sym typeface="Be Vietnam"/>
              </a:rPr>
              <a:t>(6): Nguồn điện 30V-10A</a:t>
            </a:r>
          </a:p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331B0D"/>
                </a:solidFill>
                <a:latin typeface="Be Vietnam"/>
                <a:ea typeface="Be Vietnam"/>
                <a:cs typeface="Be Vietnam"/>
                <a:sym typeface="Be Vietnam"/>
              </a:rPr>
              <a:t>(7): Khối LED 6x6x6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66800" y="9809813"/>
            <a:ext cx="2055316" cy="264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39"/>
              </a:lnSpc>
              <a:spcBef>
                <a:spcPct val="0"/>
              </a:spcBef>
            </a:pPr>
            <a:r>
              <a:rPr lang="en-US" sz="1599" spc="159">
                <a:solidFill>
                  <a:srgbClr val="000000">
                    <a:alpha val="49804"/>
                  </a:srgbClr>
                </a:solidFill>
                <a:latin typeface="Be Vietnam"/>
                <a:ea typeface="Be Vietnam"/>
                <a:cs typeface="Be Vietnam"/>
                <a:sym typeface="Be Vietnam"/>
              </a:rPr>
              <a:t>LED CUBE NHÓM 5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276600" y="8801100"/>
            <a:ext cx="4981457" cy="3334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599"/>
              </a:lnSpc>
              <a:spcBef>
                <a:spcPct val="0"/>
              </a:spcBef>
            </a:pPr>
            <a:r>
              <a:rPr lang="en-US" sz="2599" i="1" spc="259" dirty="0" err="1">
                <a:solidFill>
                  <a:srgbClr val="000000"/>
                </a:solidFill>
                <a:latin typeface="Be Vietnam Italics"/>
                <a:ea typeface="Be Vietnam Italics"/>
                <a:cs typeface="Be Vietnam Italics"/>
                <a:sym typeface="Be Vietnam Italics"/>
              </a:rPr>
              <a:t>Hình</a:t>
            </a:r>
            <a:r>
              <a:rPr lang="en-US" sz="2599" i="1" spc="259" dirty="0">
                <a:solidFill>
                  <a:srgbClr val="000000"/>
                </a:solidFill>
                <a:latin typeface="Be Vietnam Italics"/>
                <a:ea typeface="Be Vietnam Italics"/>
                <a:cs typeface="Be Vietnam Italics"/>
                <a:sym typeface="Be Vietnam Italics"/>
              </a:rPr>
              <a:t> 5: </a:t>
            </a:r>
            <a:r>
              <a:rPr lang="en-US" sz="2599" i="1" spc="259" dirty="0" err="1">
                <a:solidFill>
                  <a:srgbClr val="000000"/>
                </a:solidFill>
                <a:latin typeface="Be Vietnam Italics"/>
                <a:ea typeface="Be Vietnam Italics"/>
                <a:cs typeface="Be Vietnam Italics"/>
                <a:sym typeface="Be Vietnam Italics"/>
              </a:rPr>
              <a:t>Cấu</a:t>
            </a:r>
            <a:r>
              <a:rPr lang="en-US" sz="2599" i="1" spc="259" dirty="0">
                <a:solidFill>
                  <a:srgbClr val="000000"/>
                </a:solidFill>
                <a:latin typeface="Be Vietnam Italics"/>
                <a:ea typeface="Be Vietnam Italics"/>
                <a:cs typeface="Be Vietnam Italics"/>
                <a:sym typeface="Be Vietnam Italics"/>
              </a:rPr>
              <a:t> </a:t>
            </a:r>
            <a:r>
              <a:rPr lang="en-US" sz="2599" i="1" spc="259" dirty="0" err="1">
                <a:solidFill>
                  <a:srgbClr val="000000"/>
                </a:solidFill>
                <a:latin typeface="Be Vietnam Italics"/>
                <a:ea typeface="Be Vietnam Italics"/>
                <a:cs typeface="Be Vietnam Italics"/>
                <a:sym typeface="Be Vietnam Italics"/>
              </a:rPr>
              <a:t>tạo</a:t>
            </a:r>
            <a:r>
              <a:rPr lang="en-US" sz="2599" i="1" spc="259" dirty="0">
                <a:solidFill>
                  <a:srgbClr val="000000"/>
                </a:solidFill>
                <a:latin typeface="Be Vietnam Italics"/>
                <a:ea typeface="Be Vietnam Italics"/>
                <a:cs typeface="Be Vietnam Italics"/>
                <a:sym typeface="Be Vietnam Italics"/>
              </a:rPr>
              <a:t> </a:t>
            </a:r>
            <a:r>
              <a:rPr lang="en-US" sz="2599" i="1" spc="259" dirty="0" err="1">
                <a:solidFill>
                  <a:srgbClr val="000000"/>
                </a:solidFill>
                <a:latin typeface="Be Vietnam Italics"/>
                <a:ea typeface="Be Vietnam Italics"/>
                <a:cs typeface="Be Vietnam Italics"/>
                <a:sym typeface="Be Vietnam Italics"/>
              </a:rPr>
              <a:t>sản</a:t>
            </a:r>
            <a:r>
              <a:rPr lang="en-US" sz="2599" i="1" spc="259" dirty="0">
                <a:solidFill>
                  <a:srgbClr val="000000"/>
                </a:solidFill>
                <a:latin typeface="Be Vietnam Italics"/>
                <a:ea typeface="Be Vietnam Italics"/>
                <a:cs typeface="Be Vietnam Italics"/>
                <a:sym typeface="Be Vietnam Italics"/>
              </a:rPr>
              <a:t> </a:t>
            </a:r>
            <a:r>
              <a:rPr lang="en-US" sz="2599" i="1" spc="259" dirty="0" err="1">
                <a:solidFill>
                  <a:srgbClr val="000000"/>
                </a:solidFill>
                <a:latin typeface="Be Vietnam Italics"/>
                <a:ea typeface="Be Vietnam Italics"/>
                <a:cs typeface="Be Vietnam Italics"/>
                <a:sym typeface="Be Vietnam Italics"/>
              </a:rPr>
              <a:t>phẩm</a:t>
            </a:r>
            <a:endParaRPr lang="en-US" sz="2599" i="1" spc="259" dirty="0">
              <a:solidFill>
                <a:srgbClr val="000000"/>
              </a:solidFill>
              <a:latin typeface="Be Vietnam Italics"/>
              <a:ea typeface="Be Vietnam Italics"/>
              <a:cs typeface="Be Vietnam Italics"/>
              <a:sym typeface="Be Vietnam Italics"/>
            </a:endParaRPr>
          </a:p>
        </p:txBody>
      </p:sp>
    </p:spTree>
  </p:cSld>
  <p:clrMapOvr>
    <a:masterClrMapping/>
  </p:clrMapOvr>
  <p:transition spd="slow">
    <p:push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073498" y="5143500"/>
            <a:ext cx="6141004" cy="4347003"/>
          </a:xfrm>
          <a:custGeom>
            <a:avLst/>
            <a:gdLst/>
            <a:ahLst/>
            <a:cxnLst/>
            <a:rect l="l" t="t" r="r" b="b"/>
            <a:pathLst>
              <a:path w="6141004" h="4347003">
                <a:moveTo>
                  <a:pt x="0" y="0"/>
                </a:moveTo>
                <a:lnTo>
                  <a:pt x="6141004" y="0"/>
                </a:lnTo>
                <a:lnTo>
                  <a:pt x="6141004" y="4347003"/>
                </a:lnTo>
                <a:lnTo>
                  <a:pt x="0" y="434700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001"/>
          </a:p>
        </p:txBody>
      </p:sp>
      <p:sp>
        <p:nvSpPr>
          <p:cNvPr id="3" name="TextBox 3"/>
          <p:cNvSpPr txBox="1"/>
          <p:nvPr/>
        </p:nvSpPr>
        <p:spPr>
          <a:xfrm>
            <a:off x="2586550" y="1266825"/>
            <a:ext cx="13114901" cy="33960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040"/>
              </a:lnSpc>
            </a:pPr>
            <a:r>
              <a:rPr lang="en-US" sz="13040" spc="-782">
                <a:solidFill>
                  <a:srgbClr val="331B0D"/>
                </a:solidFill>
                <a:latin typeface="K2D"/>
                <a:ea typeface="K2D"/>
                <a:cs typeface="K2D"/>
                <a:sym typeface="K2D"/>
              </a:rPr>
              <a:t>Cảm ơn thầy và các bạn đã lắng nghe :D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66800" y="9809813"/>
            <a:ext cx="2055316" cy="264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39"/>
              </a:lnSpc>
              <a:spcBef>
                <a:spcPct val="0"/>
              </a:spcBef>
            </a:pPr>
            <a:r>
              <a:rPr lang="en-US" sz="1599" spc="159">
                <a:solidFill>
                  <a:srgbClr val="000000">
                    <a:alpha val="49804"/>
                  </a:srgbClr>
                </a:solidFill>
                <a:latin typeface="Be Vietnam"/>
                <a:ea typeface="Be Vietnam"/>
                <a:cs typeface="Be Vietnam"/>
                <a:sym typeface="Be Vietnam"/>
              </a:rPr>
              <a:t>LED CUBE NHÓM 5</a:t>
            </a:r>
          </a:p>
        </p:txBody>
      </p:sp>
    </p:spTree>
  </p:cSld>
  <p:clrMapOvr>
    <a:masterClrMapping/>
  </p:clrMapOvr>
  <p:transition spd="slow">
    <p:push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941</Words>
  <Application>Microsoft Office PowerPoint</Application>
  <PresentationFormat>Custom</PresentationFormat>
  <Paragraphs>166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1" baseType="lpstr">
      <vt:lpstr>Arial</vt:lpstr>
      <vt:lpstr>Dancing Script Bold</vt:lpstr>
      <vt:lpstr>K2D</vt:lpstr>
      <vt:lpstr>K2D Bold</vt:lpstr>
      <vt:lpstr>Be Vietnam Ultra-Bold Italics</vt:lpstr>
      <vt:lpstr>Be Vietnam</vt:lpstr>
      <vt:lpstr>Be Vietnam Ultra-Bold</vt:lpstr>
      <vt:lpstr>Be Vietnam Italics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REPORT NMvKT LED Cube</dc:title>
  <cp:lastModifiedBy>Codez Nguyen Phuoc Khang</cp:lastModifiedBy>
  <cp:revision>2</cp:revision>
  <dcterms:created xsi:type="dcterms:W3CDTF">2006-08-16T00:00:00Z</dcterms:created>
  <dcterms:modified xsi:type="dcterms:W3CDTF">2025-12-15T13:00:13Z</dcterms:modified>
  <dc:identifier>DAG7f1n-LUI</dc:identifier>
</cp:coreProperties>
</file>